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Shantell Sans Bold" charset="1" panose="00000000000000000000"/>
      <p:regular r:id="rId16"/>
    </p:embeddedFont>
    <p:embeddedFont>
      <p:font typeface="Antic Bold" charset="1" panose="00000000000000000000"/>
      <p:regular r:id="rId17"/>
    </p:embeddedFont>
    <p:embeddedFont>
      <p:font typeface="Poppins" charset="1" panose="00000500000000000000"/>
      <p:regular r:id="rId18"/>
    </p:embeddedFont>
    <p:embeddedFont>
      <p:font typeface="Poppins Bold" charset="1" panose="000008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834" y="5062912"/>
            <a:ext cx="8895506" cy="5224088"/>
          </a:xfrm>
          <a:custGeom>
            <a:avLst/>
            <a:gdLst/>
            <a:ahLst/>
            <a:cxnLst/>
            <a:rect r="r" b="b" t="t" l="l"/>
            <a:pathLst>
              <a:path h="5224088" w="8895506">
                <a:moveTo>
                  <a:pt x="0" y="0"/>
                </a:moveTo>
                <a:lnTo>
                  <a:pt x="8895506" y="0"/>
                </a:lnTo>
                <a:lnTo>
                  <a:pt x="8895506" y="5224088"/>
                </a:lnTo>
                <a:lnTo>
                  <a:pt x="0" y="52240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1834" y="0"/>
            <a:ext cx="8758282" cy="5143500"/>
          </a:xfrm>
          <a:custGeom>
            <a:avLst/>
            <a:gdLst/>
            <a:ahLst/>
            <a:cxnLst/>
            <a:rect r="r" b="b" t="t" l="l"/>
            <a:pathLst>
              <a:path h="5143500" w="8758282">
                <a:moveTo>
                  <a:pt x="0" y="5143500"/>
                </a:moveTo>
                <a:lnTo>
                  <a:pt x="8758282" y="5143500"/>
                </a:lnTo>
                <a:lnTo>
                  <a:pt x="8758282" y="0"/>
                </a:lnTo>
                <a:lnTo>
                  <a:pt x="0" y="0"/>
                </a:lnTo>
                <a:lnTo>
                  <a:pt x="0" y="51435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9558568" y="9993"/>
            <a:ext cx="8741266" cy="5133507"/>
          </a:xfrm>
          <a:custGeom>
            <a:avLst/>
            <a:gdLst/>
            <a:ahLst/>
            <a:cxnLst/>
            <a:rect r="r" b="b" t="t" l="l"/>
            <a:pathLst>
              <a:path h="5133507" w="8741266">
                <a:moveTo>
                  <a:pt x="8741266" y="5133507"/>
                </a:moveTo>
                <a:lnTo>
                  <a:pt x="0" y="5133507"/>
                </a:lnTo>
                <a:lnTo>
                  <a:pt x="0" y="0"/>
                </a:lnTo>
                <a:lnTo>
                  <a:pt x="8741266" y="0"/>
                </a:lnTo>
                <a:lnTo>
                  <a:pt x="8741266" y="513350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9404328" y="5062912"/>
            <a:ext cx="8895506" cy="5224088"/>
          </a:xfrm>
          <a:custGeom>
            <a:avLst/>
            <a:gdLst/>
            <a:ahLst/>
            <a:cxnLst/>
            <a:rect r="r" b="b" t="t" l="l"/>
            <a:pathLst>
              <a:path h="5224088" w="8895506">
                <a:moveTo>
                  <a:pt x="8895506" y="0"/>
                </a:moveTo>
                <a:lnTo>
                  <a:pt x="0" y="0"/>
                </a:lnTo>
                <a:lnTo>
                  <a:pt x="0" y="5224088"/>
                </a:lnTo>
                <a:lnTo>
                  <a:pt x="8895506" y="5224088"/>
                </a:lnTo>
                <a:lnTo>
                  <a:pt x="889550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422505" y="3686175"/>
            <a:ext cx="13442990" cy="2905125"/>
          </a:xfrm>
          <a:prstGeom prst="rect">
            <a:avLst/>
          </a:prstGeom>
        </p:spPr>
        <p:txBody>
          <a:bodyPr anchor="t" rtlCol="false" tIns="0" lIns="0" bIns="0" rIns="0">
            <a:spAutoFit/>
          </a:bodyPr>
          <a:lstStyle/>
          <a:p>
            <a:pPr algn="ctr">
              <a:lnSpc>
                <a:spcPts val="11400"/>
              </a:lnSpc>
            </a:pPr>
            <a:r>
              <a:rPr lang="en-US" b="true" sz="9500">
                <a:solidFill>
                  <a:srgbClr val="FFD9D0"/>
                </a:solidFill>
                <a:latin typeface="Shantell Sans Bold"/>
                <a:ea typeface="Shantell Sans Bold"/>
                <a:cs typeface="Shantell Sans Bold"/>
                <a:sym typeface="Shantell Sans Bold"/>
              </a:rPr>
              <a:t>WEBSITE </a:t>
            </a:r>
            <a:r>
              <a:rPr lang="en-US" b="true" sz="9500">
                <a:solidFill>
                  <a:srgbClr val="5C94C1"/>
                </a:solidFill>
                <a:latin typeface="Shantell Sans Bold"/>
                <a:ea typeface="Shantell Sans Bold"/>
                <a:cs typeface="Shantell Sans Bold"/>
                <a:sym typeface="Shantell Sans Bold"/>
              </a:rPr>
              <a:t>PENYEWAAN KIOS</a:t>
            </a:r>
          </a:p>
        </p:txBody>
      </p:sp>
      <p:sp>
        <p:nvSpPr>
          <p:cNvPr name="Freeform 7" id="7"/>
          <p:cNvSpPr/>
          <p:nvPr/>
        </p:nvSpPr>
        <p:spPr>
          <a:xfrm flipH="true" flipV="true" rot="5400000">
            <a:off x="17013898" y="2931845"/>
            <a:ext cx="1817993" cy="4114800"/>
          </a:xfrm>
          <a:custGeom>
            <a:avLst/>
            <a:gdLst/>
            <a:ahLst/>
            <a:cxnLst/>
            <a:rect r="r" b="b" t="t" l="l"/>
            <a:pathLst>
              <a:path h="4114800" w="1817993">
                <a:moveTo>
                  <a:pt x="1817994" y="4114800"/>
                </a:moveTo>
                <a:lnTo>
                  <a:pt x="0" y="4114800"/>
                </a:lnTo>
                <a:lnTo>
                  <a:pt x="0" y="0"/>
                </a:lnTo>
                <a:lnTo>
                  <a:pt x="1817994" y="0"/>
                </a:lnTo>
                <a:lnTo>
                  <a:pt x="1817994" y="411480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true" flipV="false" rot="5400000">
            <a:off x="-543892" y="2931845"/>
            <a:ext cx="1817993" cy="4114800"/>
          </a:xfrm>
          <a:custGeom>
            <a:avLst/>
            <a:gdLst/>
            <a:ahLst/>
            <a:cxnLst/>
            <a:rect r="r" b="b" t="t" l="l"/>
            <a:pathLst>
              <a:path h="4114800" w="1817993">
                <a:moveTo>
                  <a:pt x="1817994" y="0"/>
                </a:moveTo>
                <a:lnTo>
                  <a:pt x="0" y="0"/>
                </a:lnTo>
                <a:lnTo>
                  <a:pt x="0" y="4114800"/>
                </a:lnTo>
                <a:lnTo>
                  <a:pt x="1817994" y="4114800"/>
                </a:lnTo>
                <a:lnTo>
                  <a:pt x="1817994"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9" id="9"/>
          <p:cNvSpPr/>
          <p:nvPr/>
        </p:nvSpPr>
        <p:spPr>
          <a:xfrm flipH="false" flipV="true" rot="0">
            <a:off x="7550438" y="8349037"/>
            <a:ext cx="3187125" cy="2807281"/>
          </a:xfrm>
          <a:custGeom>
            <a:avLst/>
            <a:gdLst/>
            <a:ahLst/>
            <a:cxnLst/>
            <a:rect r="r" b="b" t="t" l="l"/>
            <a:pathLst>
              <a:path h="2807281" w="3187125">
                <a:moveTo>
                  <a:pt x="0" y="2807282"/>
                </a:moveTo>
                <a:lnTo>
                  <a:pt x="3187124" y="2807282"/>
                </a:lnTo>
                <a:lnTo>
                  <a:pt x="3187124" y="0"/>
                </a:lnTo>
                <a:lnTo>
                  <a:pt x="0" y="0"/>
                </a:lnTo>
                <a:lnTo>
                  <a:pt x="0" y="2807282"/>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0" id="10"/>
          <p:cNvSpPr/>
          <p:nvPr/>
        </p:nvSpPr>
        <p:spPr>
          <a:xfrm flipH="false" flipV="false" rot="0">
            <a:off x="7550438" y="-887619"/>
            <a:ext cx="3187125" cy="2807281"/>
          </a:xfrm>
          <a:custGeom>
            <a:avLst/>
            <a:gdLst/>
            <a:ahLst/>
            <a:cxnLst/>
            <a:rect r="r" b="b" t="t" l="l"/>
            <a:pathLst>
              <a:path h="2807281" w="3187125">
                <a:moveTo>
                  <a:pt x="0" y="0"/>
                </a:moveTo>
                <a:lnTo>
                  <a:pt x="3187124" y="0"/>
                </a:lnTo>
                <a:lnTo>
                  <a:pt x="3187124" y="2807281"/>
                </a:lnTo>
                <a:lnTo>
                  <a:pt x="0" y="28072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417129" y="2960032"/>
            <a:ext cx="5370848" cy="1911657"/>
            <a:chOff x="0" y="0"/>
            <a:chExt cx="1362987" cy="485131"/>
          </a:xfrm>
        </p:grpSpPr>
        <p:sp>
          <p:nvSpPr>
            <p:cNvPr name="Freeform 3" id="3"/>
            <p:cNvSpPr/>
            <p:nvPr/>
          </p:nvSpPr>
          <p:spPr>
            <a:xfrm flipH="false" flipV="false" rot="0">
              <a:off x="0" y="0"/>
              <a:ext cx="1362987" cy="485131"/>
            </a:xfrm>
            <a:custGeom>
              <a:avLst/>
              <a:gdLst/>
              <a:ahLst/>
              <a:cxnLst/>
              <a:rect r="r" b="b" t="t" l="l"/>
              <a:pathLst>
                <a:path h="485131" w="1362987">
                  <a:moveTo>
                    <a:pt x="61983" y="0"/>
                  </a:moveTo>
                  <a:lnTo>
                    <a:pt x="1301003" y="0"/>
                  </a:lnTo>
                  <a:cubicBezTo>
                    <a:pt x="1335236" y="0"/>
                    <a:pt x="1362987" y="27751"/>
                    <a:pt x="1362987" y="61983"/>
                  </a:cubicBezTo>
                  <a:lnTo>
                    <a:pt x="1362987" y="423147"/>
                  </a:lnTo>
                  <a:cubicBezTo>
                    <a:pt x="1362987" y="439586"/>
                    <a:pt x="1356456" y="455352"/>
                    <a:pt x="1344832" y="466976"/>
                  </a:cubicBezTo>
                  <a:cubicBezTo>
                    <a:pt x="1333208" y="478600"/>
                    <a:pt x="1317442" y="485131"/>
                    <a:pt x="1301003" y="485131"/>
                  </a:cubicBezTo>
                  <a:lnTo>
                    <a:pt x="61983" y="485131"/>
                  </a:lnTo>
                  <a:cubicBezTo>
                    <a:pt x="27751" y="485131"/>
                    <a:pt x="0" y="457380"/>
                    <a:pt x="0" y="423147"/>
                  </a:cubicBezTo>
                  <a:lnTo>
                    <a:pt x="0" y="61983"/>
                  </a:lnTo>
                  <a:cubicBezTo>
                    <a:pt x="0" y="27751"/>
                    <a:pt x="27751" y="0"/>
                    <a:pt x="61983" y="0"/>
                  </a:cubicBezTo>
                  <a:close/>
                </a:path>
              </a:pathLst>
            </a:custGeom>
            <a:solidFill>
              <a:srgbClr val="5C94C1"/>
            </a:solidFill>
            <a:ln w="38100" cap="rnd">
              <a:solidFill>
                <a:srgbClr val="5C94C1"/>
              </a:solidFill>
              <a:prstDash val="solid"/>
              <a:round/>
            </a:ln>
          </p:spPr>
        </p:sp>
        <p:sp>
          <p:nvSpPr>
            <p:cNvPr name="TextBox 4" id="4"/>
            <p:cNvSpPr txBox="true"/>
            <p:nvPr/>
          </p:nvSpPr>
          <p:spPr>
            <a:xfrm>
              <a:off x="0" y="-38100"/>
              <a:ext cx="1362987" cy="523231"/>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578216" y="1003308"/>
            <a:ext cx="15131567" cy="933450"/>
          </a:xfrm>
          <a:prstGeom prst="rect">
            <a:avLst/>
          </a:prstGeom>
        </p:spPr>
        <p:txBody>
          <a:bodyPr anchor="t" rtlCol="false" tIns="0" lIns="0" bIns="0" rIns="0">
            <a:spAutoFit/>
          </a:bodyPr>
          <a:lstStyle/>
          <a:p>
            <a:pPr algn="ctr">
              <a:lnSpc>
                <a:spcPts val="7393"/>
              </a:lnSpc>
            </a:pPr>
            <a:r>
              <a:rPr lang="en-US" b="true" sz="6161">
                <a:solidFill>
                  <a:srgbClr val="5C94C1"/>
                </a:solidFill>
                <a:latin typeface="Shantell Sans Bold"/>
                <a:ea typeface="Shantell Sans Bold"/>
                <a:cs typeface="Shantell Sans Bold"/>
                <a:sym typeface="Shantell Sans Bold"/>
              </a:rPr>
              <a:t>KELOMPOK 5</a:t>
            </a:r>
          </a:p>
        </p:txBody>
      </p:sp>
      <p:sp>
        <p:nvSpPr>
          <p:cNvPr name="TextBox 6" id="6"/>
          <p:cNvSpPr txBox="true"/>
          <p:nvPr/>
        </p:nvSpPr>
        <p:spPr>
          <a:xfrm rot="0">
            <a:off x="3898027" y="3119743"/>
            <a:ext cx="4409052" cy="1559560"/>
          </a:xfrm>
          <a:prstGeom prst="rect">
            <a:avLst/>
          </a:prstGeom>
        </p:spPr>
        <p:txBody>
          <a:bodyPr anchor="t" rtlCol="false" tIns="0" lIns="0" bIns="0" rIns="0">
            <a:spAutoFit/>
          </a:bodyPr>
          <a:lstStyle/>
          <a:p>
            <a:pPr algn="ctr">
              <a:lnSpc>
                <a:spcPts val="4160"/>
              </a:lnSpc>
            </a:pPr>
            <a:r>
              <a:rPr lang="en-US" sz="3200" spc="44">
                <a:solidFill>
                  <a:srgbClr val="FFFFFF"/>
                </a:solidFill>
                <a:latin typeface="Antic Bold"/>
                <a:ea typeface="Antic Bold"/>
                <a:cs typeface="Antic Bold"/>
                <a:sym typeface="Antic Bold"/>
              </a:rPr>
              <a:t>Anderson Randy Scipio</a:t>
            </a:r>
          </a:p>
          <a:p>
            <a:pPr algn="ctr">
              <a:lnSpc>
                <a:spcPts val="4160"/>
              </a:lnSpc>
            </a:pPr>
            <a:r>
              <a:rPr lang="en-US" sz="3200" spc="44">
                <a:solidFill>
                  <a:srgbClr val="FFFFFF"/>
                </a:solidFill>
                <a:latin typeface="Antic Bold"/>
                <a:ea typeface="Antic Bold"/>
                <a:cs typeface="Antic Bold"/>
                <a:sym typeface="Antic Bold"/>
              </a:rPr>
              <a:t>10122164</a:t>
            </a:r>
          </a:p>
          <a:p>
            <a:pPr algn="ctr">
              <a:lnSpc>
                <a:spcPts val="4160"/>
              </a:lnSpc>
            </a:pPr>
            <a:r>
              <a:rPr lang="en-US" sz="3200" spc="44">
                <a:solidFill>
                  <a:srgbClr val="FFFFFF"/>
                </a:solidFill>
                <a:latin typeface="Antic Bold"/>
                <a:ea typeface="Antic Bold"/>
                <a:cs typeface="Antic Bold"/>
                <a:sym typeface="Antic Bold"/>
              </a:rPr>
              <a:t>Programmer</a:t>
            </a:r>
          </a:p>
        </p:txBody>
      </p:sp>
      <p:grpSp>
        <p:nvGrpSpPr>
          <p:cNvPr name="Group 7" id="7"/>
          <p:cNvGrpSpPr/>
          <p:nvPr/>
        </p:nvGrpSpPr>
        <p:grpSpPr>
          <a:xfrm rot="0">
            <a:off x="9940665" y="2957982"/>
            <a:ext cx="5370848" cy="1911657"/>
            <a:chOff x="0" y="0"/>
            <a:chExt cx="1362987" cy="485131"/>
          </a:xfrm>
        </p:grpSpPr>
        <p:sp>
          <p:nvSpPr>
            <p:cNvPr name="Freeform 8" id="8"/>
            <p:cNvSpPr/>
            <p:nvPr/>
          </p:nvSpPr>
          <p:spPr>
            <a:xfrm flipH="false" flipV="false" rot="0">
              <a:off x="0" y="0"/>
              <a:ext cx="1362987" cy="485131"/>
            </a:xfrm>
            <a:custGeom>
              <a:avLst/>
              <a:gdLst/>
              <a:ahLst/>
              <a:cxnLst/>
              <a:rect r="r" b="b" t="t" l="l"/>
              <a:pathLst>
                <a:path h="485131" w="1362987">
                  <a:moveTo>
                    <a:pt x="61983" y="0"/>
                  </a:moveTo>
                  <a:lnTo>
                    <a:pt x="1301003" y="0"/>
                  </a:lnTo>
                  <a:cubicBezTo>
                    <a:pt x="1335236" y="0"/>
                    <a:pt x="1362987" y="27751"/>
                    <a:pt x="1362987" y="61983"/>
                  </a:cubicBezTo>
                  <a:lnTo>
                    <a:pt x="1362987" y="423147"/>
                  </a:lnTo>
                  <a:cubicBezTo>
                    <a:pt x="1362987" y="439586"/>
                    <a:pt x="1356456" y="455352"/>
                    <a:pt x="1344832" y="466976"/>
                  </a:cubicBezTo>
                  <a:cubicBezTo>
                    <a:pt x="1333208" y="478600"/>
                    <a:pt x="1317442" y="485131"/>
                    <a:pt x="1301003" y="485131"/>
                  </a:cubicBezTo>
                  <a:lnTo>
                    <a:pt x="61983" y="485131"/>
                  </a:lnTo>
                  <a:cubicBezTo>
                    <a:pt x="27751" y="485131"/>
                    <a:pt x="0" y="457380"/>
                    <a:pt x="0" y="423147"/>
                  </a:cubicBezTo>
                  <a:lnTo>
                    <a:pt x="0" y="61983"/>
                  </a:lnTo>
                  <a:cubicBezTo>
                    <a:pt x="0" y="27751"/>
                    <a:pt x="27751" y="0"/>
                    <a:pt x="61983" y="0"/>
                  </a:cubicBezTo>
                  <a:close/>
                </a:path>
              </a:pathLst>
            </a:custGeom>
            <a:solidFill>
              <a:srgbClr val="FFD9D0"/>
            </a:solidFill>
            <a:ln w="38100" cap="rnd">
              <a:solidFill>
                <a:srgbClr val="5C94C1"/>
              </a:solidFill>
              <a:prstDash val="solid"/>
              <a:round/>
            </a:ln>
          </p:spPr>
        </p:sp>
        <p:sp>
          <p:nvSpPr>
            <p:cNvPr name="TextBox 9" id="9"/>
            <p:cNvSpPr txBox="true"/>
            <p:nvPr/>
          </p:nvSpPr>
          <p:spPr>
            <a:xfrm>
              <a:off x="0" y="-38100"/>
              <a:ext cx="1362987" cy="523231"/>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0373377" y="3119743"/>
            <a:ext cx="4505424" cy="1559560"/>
          </a:xfrm>
          <a:prstGeom prst="rect">
            <a:avLst/>
          </a:prstGeom>
        </p:spPr>
        <p:txBody>
          <a:bodyPr anchor="t" rtlCol="false" tIns="0" lIns="0" bIns="0" rIns="0">
            <a:spAutoFit/>
          </a:bodyPr>
          <a:lstStyle/>
          <a:p>
            <a:pPr algn="ctr">
              <a:lnSpc>
                <a:spcPts val="4160"/>
              </a:lnSpc>
            </a:pPr>
            <a:r>
              <a:rPr lang="en-US" sz="3200" spc="44">
                <a:solidFill>
                  <a:srgbClr val="5C94C1"/>
                </a:solidFill>
                <a:latin typeface="Antic Bold"/>
                <a:ea typeface="Antic Bold"/>
                <a:cs typeface="Antic Bold"/>
                <a:sym typeface="Antic Bold"/>
              </a:rPr>
              <a:t>Maulina Muslimah Martin</a:t>
            </a:r>
          </a:p>
          <a:p>
            <a:pPr algn="ctr">
              <a:lnSpc>
                <a:spcPts val="4160"/>
              </a:lnSpc>
            </a:pPr>
            <a:r>
              <a:rPr lang="en-US" sz="3200" spc="44">
                <a:solidFill>
                  <a:srgbClr val="5C94C1"/>
                </a:solidFill>
                <a:latin typeface="Antic Bold"/>
                <a:ea typeface="Antic Bold"/>
                <a:cs typeface="Antic Bold"/>
                <a:sym typeface="Antic Bold"/>
              </a:rPr>
              <a:t>10122753</a:t>
            </a:r>
          </a:p>
          <a:p>
            <a:pPr algn="ctr">
              <a:lnSpc>
                <a:spcPts val="4160"/>
              </a:lnSpc>
            </a:pPr>
            <a:r>
              <a:rPr lang="en-US" sz="3200" spc="44">
                <a:solidFill>
                  <a:srgbClr val="5C94C1"/>
                </a:solidFill>
                <a:latin typeface="Antic Bold"/>
                <a:ea typeface="Antic Bold"/>
                <a:cs typeface="Antic Bold"/>
                <a:sym typeface="Antic Bold"/>
              </a:rPr>
              <a:t>UI/UX Designer</a:t>
            </a:r>
          </a:p>
        </p:txBody>
      </p:sp>
      <p:sp>
        <p:nvSpPr>
          <p:cNvPr name="Freeform 11" id="11"/>
          <p:cNvSpPr/>
          <p:nvPr/>
        </p:nvSpPr>
        <p:spPr>
          <a:xfrm flipH="false" flipV="true" rot="0">
            <a:off x="-233333" y="-261025"/>
            <a:ext cx="5895244" cy="3462116"/>
          </a:xfrm>
          <a:custGeom>
            <a:avLst/>
            <a:gdLst/>
            <a:ahLst/>
            <a:cxnLst/>
            <a:rect r="r" b="b" t="t" l="l"/>
            <a:pathLst>
              <a:path h="3462116" w="5895244">
                <a:moveTo>
                  <a:pt x="0" y="3462116"/>
                </a:moveTo>
                <a:lnTo>
                  <a:pt x="5895244" y="3462116"/>
                </a:lnTo>
                <a:lnTo>
                  <a:pt x="5895244" y="0"/>
                </a:lnTo>
                <a:lnTo>
                  <a:pt x="0" y="0"/>
                </a:lnTo>
                <a:lnTo>
                  <a:pt x="0" y="34621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true" flipV="true" rot="0">
            <a:off x="12626089" y="-261025"/>
            <a:ext cx="5895244" cy="3462116"/>
          </a:xfrm>
          <a:custGeom>
            <a:avLst/>
            <a:gdLst/>
            <a:ahLst/>
            <a:cxnLst/>
            <a:rect r="r" b="b" t="t" l="l"/>
            <a:pathLst>
              <a:path h="3462116" w="5895244">
                <a:moveTo>
                  <a:pt x="5895244" y="3462116"/>
                </a:moveTo>
                <a:lnTo>
                  <a:pt x="0" y="3462116"/>
                </a:lnTo>
                <a:lnTo>
                  <a:pt x="0" y="0"/>
                </a:lnTo>
                <a:lnTo>
                  <a:pt x="5895244" y="0"/>
                </a:lnTo>
                <a:lnTo>
                  <a:pt x="5895244" y="3462116"/>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3417129" y="5890863"/>
            <a:ext cx="5370848" cy="1911657"/>
            <a:chOff x="0" y="0"/>
            <a:chExt cx="1362987" cy="485131"/>
          </a:xfrm>
        </p:grpSpPr>
        <p:sp>
          <p:nvSpPr>
            <p:cNvPr name="Freeform 14" id="14"/>
            <p:cNvSpPr/>
            <p:nvPr/>
          </p:nvSpPr>
          <p:spPr>
            <a:xfrm flipH="false" flipV="false" rot="0">
              <a:off x="0" y="0"/>
              <a:ext cx="1362987" cy="485131"/>
            </a:xfrm>
            <a:custGeom>
              <a:avLst/>
              <a:gdLst/>
              <a:ahLst/>
              <a:cxnLst/>
              <a:rect r="r" b="b" t="t" l="l"/>
              <a:pathLst>
                <a:path h="485131" w="1362987">
                  <a:moveTo>
                    <a:pt x="61983" y="0"/>
                  </a:moveTo>
                  <a:lnTo>
                    <a:pt x="1301003" y="0"/>
                  </a:lnTo>
                  <a:cubicBezTo>
                    <a:pt x="1335236" y="0"/>
                    <a:pt x="1362987" y="27751"/>
                    <a:pt x="1362987" y="61983"/>
                  </a:cubicBezTo>
                  <a:lnTo>
                    <a:pt x="1362987" y="423147"/>
                  </a:lnTo>
                  <a:cubicBezTo>
                    <a:pt x="1362987" y="439586"/>
                    <a:pt x="1356456" y="455352"/>
                    <a:pt x="1344832" y="466976"/>
                  </a:cubicBezTo>
                  <a:cubicBezTo>
                    <a:pt x="1333208" y="478600"/>
                    <a:pt x="1317442" y="485131"/>
                    <a:pt x="1301003" y="485131"/>
                  </a:cubicBezTo>
                  <a:lnTo>
                    <a:pt x="61983" y="485131"/>
                  </a:lnTo>
                  <a:cubicBezTo>
                    <a:pt x="27751" y="485131"/>
                    <a:pt x="0" y="457380"/>
                    <a:pt x="0" y="423147"/>
                  </a:cubicBezTo>
                  <a:lnTo>
                    <a:pt x="0" y="61983"/>
                  </a:lnTo>
                  <a:cubicBezTo>
                    <a:pt x="0" y="27751"/>
                    <a:pt x="27751" y="0"/>
                    <a:pt x="61983" y="0"/>
                  </a:cubicBezTo>
                  <a:close/>
                </a:path>
              </a:pathLst>
            </a:custGeom>
            <a:solidFill>
              <a:srgbClr val="FFD9D0"/>
            </a:solidFill>
            <a:ln w="38100" cap="rnd">
              <a:solidFill>
                <a:srgbClr val="5C94C1"/>
              </a:solidFill>
              <a:prstDash val="solid"/>
              <a:round/>
            </a:ln>
          </p:spPr>
        </p:sp>
        <p:sp>
          <p:nvSpPr>
            <p:cNvPr name="TextBox 15" id="15"/>
            <p:cNvSpPr txBox="true"/>
            <p:nvPr/>
          </p:nvSpPr>
          <p:spPr>
            <a:xfrm>
              <a:off x="0" y="-38100"/>
              <a:ext cx="1362987" cy="523231"/>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3555078" y="6052788"/>
            <a:ext cx="5094950" cy="1559560"/>
          </a:xfrm>
          <a:prstGeom prst="rect">
            <a:avLst/>
          </a:prstGeom>
        </p:spPr>
        <p:txBody>
          <a:bodyPr anchor="t" rtlCol="false" tIns="0" lIns="0" bIns="0" rIns="0">
            <a:spAutoFit/>
          </a:bodyPr>
          <a:lstStyle/>
          <a:p>
            <a:pPr algn="ctr">
              <a:lnSpc>
                <a:spcPts val="4160"/>
              </a:lnSpc>
            </a:pPr>
            <a:r>
              <a:rPr lang="en-US" sz="3200" spc="44">
                <a:solidFill>
                  <a:srgbClr val="5C94C1"/>
                </a:solidFill>
                <a:latin typeface="Antic Bold"/>
                <a:ea typeface="Antic Bold"/>
                <a:cs typeface="Antic Bold"/>
                <a:sym typeface="Antic Bold"/>
              </a:rPr>
              <a:t>Ratih Anggraeni Puspawerdi 11122216</a:t>
            </a:r>
          </a:p>
          <a:p>
            <a:pPr algn="ctr">
              <a:lnSpc>
                <a:spcPts val="4160"/>
              </a:lnSpc>
            </a:pPr>
            <a:r>
              <a:rPr lang="en-US" sz="3200" spc="44">
                <a:solidFill>
                  <a:srgbClr val="5C94C1"/>
                </a:solidFill>
                <a:latin typeface="Antic Bold"/>
                <a:ea typeface="Antic Bold"/>
                <a:cs typeface="Antic Bold"/>
                <a:sym typeface="Antic Bold"/>
              </a:rPr>
              <a:t>Project Manager</a:t>
            </a:r>
          </a:p>
        </p:txBody>
      </p:sp>
      <p:grpSp>
        <p:nvGrpSpPr>
          <p:cNvPr name="Group 17" id="17"/>
          <p:cNvGrpSpPr/>
          <p:nvPr/>
        </p:nvGrpSpPr>
        <p:grpSpPr>
          <a:xfrm rot="0">
            <a:off x="9940665" y="5891027"/>
            <a:ext cx="5370848" cy="1911657"/>
            <a:chOff x="0" y="0"/>
            <a:chExt cx="1362987" cy="485131"/>
          </a:xfrm>
        </p:grpSpPr>
        <p:sp>
          <p:nvSpPr>
            <p:cNvPr name="Freeform 18" id="18"/>
            <p:cNvSpPr/>
            <p:nvPr/>
          </p:nvSpPr>
          <p:spPr>
            <a:xfrm flipH="false" flipV="false" rot="0">
              <a:off x="0" y="0"/>
              <a:ext cx="1362987" cy="485131"/>
            </a:xfrm>
            <a:custGeom>
              <a:avLst/>
              <a:gdLst/>
              <a:ahLst/>
              <a:cxnLst/>
              <a:rect r="r" b="b" t="t" l="l"/>
              <a:pathLst>
                <a:path h="485131" w="1362987">
                  <a:moveTo>
                    <a:pt x="61983" y="0"/>
                  </a:moveTo>
                  <a:lnTo>
                    <a:pt x="1301003" y="0"/>
                  </a:lnTo>
                  <a:cubicBezTo>
                    <a:pt x="1335236" y="0"/>
                    <a:pt x="1362987" y="27751"/>
                    <a:pt x="1362987" y="61983"/>
                  </a:cubicBezTo>
                  <a:lnTo>
                    <a:pt x="1362987" y="423147"/>
                  </a:lnTo>
                  <a:cubicBezTo>
                    <a:pt x="1362987" y="439586"/>
                    <a:pt x="1356456" y="455352"/>
                    <a:pt x="1344832" y="466976"/>
                  </a:cubicBezTo>
                  <a:cubicBezTo>
                    <a:pt x="1333208" y="478600"/>
                    <a:pt x="1317442" y="485131"/>
                    <a:pt x="1301003" y="485131"/>
                  </a:cubicBezTo>
                  <a:lnTo>
                    <a:pt x="61983" y="485131"/>
                  </a:lnTo>
                  <a:cubicBezTo>
                    <a:pt x="27751" y="485131"/>
                    <a:pt x="0" y="457380"/>
                    <a:pt x="0" y="423147"/>
                  </a:cubicBezTo>
                  <a:lnTo>
                    <a:pt x="0" y="61983"/>
                  </a:lnTo>
                  <a:cubicBezTo>
                    <a:pt x="0" y="27751"/>
                    <a:pt x="27751" y="0"/>
                    <a:pt x="61983" y="0"/>
                  </a:cubicBezTo>
                  <a:close/>
                </a:path>
              </a:pathLst>
            </a:custGeom>
            <a:solidFill>
              <a:srgbClr val="5C94C1"/>
            </a:solidFill>
            <a:ln w="38100" cap="rnd">
              <a:solidFill>
                <a:srgbClr val="5C94C1"/>
              </a:solidFill>
              <a:prstDash val="solid"/>
              <a:round/>
            </a:ln>
          </p:spPr>
        </p:sp>
        <p:sp>
          <p:nvSpPr>
            <p:cNvPr name="TextBox 19" id="19"/>
            <p:cNvSpPr txBox="true"/>
            <p:nvPr/>
          </p:nvSpPr>
          <p:spPr>
            <a:xfrm>
              <a:off x="0" y="-38100"/>
              <a:ext cx="1362987" cy="523231"/>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10421563" y="6050739"/>
            <a:ext cx="4409052" cy="1559560"/>
          </a:xfrm>
          <a:prstGeom prst="rect">
            <a:avLst/>
          </a:prstGeom>
        </p:spPr>
        <p:txBody>
          <a:bodyPr anchor="t" rtlCol="false" tIns="0" lIns="0" bIns="0" rIns="0">
            <a:spAutoFit/>
          </a:bodyPr>
          <a:lstStyle/>
          <a:p>
            <a:pPr algn="ctr">
              <a:lnSpc>
                <a:spcPts val="4160"/>
              </a:lnSpc>
            </a:pPr>
            <a:r>
              <a:rPr lang="en-US" sz="3200">
                <a:solidFill>
                  <a:srgbClr val="FFFFFF"/>
                </a:solidFill>
                <a:latin typeface="Antic Bold"/>
                <a:ea typeface="Antic Bold"/>
                <a:cs typeface="Antic Bold"/>
                <a:sym typeface="Antic Bold"/>
              </a:rPr>
              <a:t>Salvius Willyandra</a:t>
            </a:r>
          </a:p>
          <a:p>
            <a:pPr algn="ctr">
              <a:lnSpc>
                <a:spcPts val="4160"/>
              </a:lnSpc>
            </a:pPr>
            <a:r>
              <a:rPr lang="en-US" sz="3200">
                <a:solidFill>
                  <a:srgbClr val="FFFFFF"/>
                </a:solidFill>
                <a:latin typeface="Antic Bold"/>
                <a:ea typeface="Antic Bold"/>
                <a:cs typeface="Antic Bold"/>
                <a:sym typeface="Antic Bold"/>
              </a:rPr>
              <a:t>11122343</a:t>
            </a:r>
          </a:p>
          <a:p>
            <a:pPr algn="ctr">
              <a:lnSpc>
                <a:spcPts val="4160"/>
              </a:lnSpc>
            </a:pPr>
            <a:r>
              <a:rPr lang="en-US" sz="3200">
                <a:solidFill>
                  <a:srgbClr val="FFFFFF"/>
                </a:solidFill>
                <a:latin typeface="Antic Bold"/>
                <a:ea typeface="Antic Bold"/>
                <a:cs typeface="Antic Bold"/>
                <a:sym typeface="Antic Bold"/>
              </a:rPr>
              <a:t>System Analyst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078715">
            <a:off x="-1859368" y="-176512"/>
            <a:ext cx="3928936" cy="3714631"/>
          </a:xfrm>
          <a:custGeom>
            <a:avLst/>
            <a:gdLst/>
            <a:ahLst/>
            <a:cxnLst/>
            <a:rect r="r" b="b" t="t" l="l"/>
            <a:pathLst>
              <a:path h="3714631" w="3928936">
                <a:moveTo>
                  <a:pt x="0" y="0"/>
                </a:moveTo>
                <a:lnTo>
                  <a:pt x="3928936" y="0"/>
                </a:lnTo>
                <a:lnTo>
                  <a:pt x="3928936" y="3714631"/>
                </a:lnTo>
                <a:lnTo>
                  <a:pt x="0" y="37146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3484625">
            <a:off x="15957115" y="-925358"/>
            <a:ext cx="3928936" cy="3714631"/>
          </a:xfrm>
          <a:custGeom>
            <a:avLst/>
            <a:gdLst/>
            <a:ahLst/>
            <a:cxnLst/>
            <a:rect r="r" b="b" t="t" l="l"/>
            <a:pathLst>
              <a:path h="3714631" w="3928936">
                <a:moveTo>
                  <a:pt x="0" y="0"/>
                </a:moveTo>
                <a:lnTo>
                  <a:pt x="3928937" y="0"/>
                </a:lnTo>
                <a:lnTo>
                  <a:pt x="3928937" y="3714630"/>
                </a:lnTo>
                <a:lnTo>
                  <a:pt x="0" y="37146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4" id="4"/>
          <p:cNvSpPr txBox="true"/>
          <p:nvPr/>
        </p:nvSpPr>
        <p:spPr>
          <a:xfrm rot="0">
            <a:off x="1898161" y="1028700"/>
            <a:ext cx="14491678" cy="904875"/>
          </a:xfrm>
          <a:prstGeom prst="rect">
            <a:avLst/>
          </a:prstGeom>
        </p:spPr>
        <p:txBody>
          <a:bodyPr anchor="t" rtlCol="false" tIns="0" lIns="0" bIns="0" rIns="0">
            <a:spAutoFit/>
          </a:bodyPr>
          <a:lstStyle/>
          <a:p>
            <a:pPr algn="ctr">
              <a:lnSpc>
                <a:spcPts val="7153"/>
              </a:lnSpc>
            </a:pPr>
            <a:r>
              <a:rPr lang="en-US" b="true" sz="5961">
                <a:solidFill>
                  <a:srgbClr val="5C94C1"/>
                </a:solidFill>
                <a:latin typeface="Shantell Sans Bold"/>
                <a:ea typeface="Shantell Sans Bold"/>
                <a:cs typeface="Shantell Sans Bold"/>
                <a:sym typeface="Shantell Sans Bold"/>
              </a:rPr>
              <a:t>METODE PROTOTYPE</a:t>
            </a:r>
          </a:p>
        </p:txBody>
      </p:sp>
      <p:sp>
        <p:nvSpPr>
          <p:cNvPr name="Freeform 5" id="5"/>
          <p:cNvSpPr/>
          <p:nvPr/>
        </p:nvSpPr>
        <p:spPr>
          <a:xfrm flipH="false" flipV="false" rot="0">
            <a:off x="-3886842" y="5064882"/>
            <a:ext cx="9155834" cy="5376972"/>
          </a:xfrm>
          <a:custGeom>
            <a:avLst/>
            <a:gdLst/>
            <a:ahLst/>
            <a:cxnLst/>
            <a:rect r="r" b="b" t="t" l="l"/>
            <a:pathLst>
              <a:path h="5376972" w="9155834">
                <a:moveTo>
                  <a:pt x="0" y="0"/>
                </a:moveTo>
                <a:lnTo>
                  <a:pt x="9155834" y="0"/>
                </a:lnTo>
                <a:lnTo>
                  <a:pt x="9155834" y="5376971"/>
                </a:lnTo>
                <a:lnTo>
                  <a:pt x="0" y="53769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true" flipV="false" rot="0">
            <a:off x="13019008" y="5064882"/>
            <a:ext cx="9155834" cy="5376972"/>
          </a:xfrm>
          <a:custGeom>
            <a:avLst/>
            <a:gdLst/>
            <a:ahLst/>
            <a:cxnLst/>
            <a:rect r="r" b="b" t="t" l="l"/>
            <a:pathLst>
              <a:path h="5376972" w="9155834">
                <a:moveTo>
                  <a:pt x="9155834" y="0"/>
                </a:moveTo>
                <a:lnTo>
                  <a:pt x="0" y="0"/>
                </a:lnTo>
                <a:lnTo>
                  <a:pt x="0" y="5376971"/>
                </a:lnTo>
                <a:lnTo>
                  <a:pt x="9155834" y="5376971"/>
                </a:lnTo>
                <a:lnTo>
                  <a:pt x="9155834"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2906769" y="2720388"/>
            <a:ext cx="12474463" cy="5975078"/>
            <a:chOff x="0" y="0"/>
            <a:chExt cx="3209323" cy="1537217"/>
          </a:xfrm>
        </p:grpSpPr>
        <p:sp>
          <p:nvSpPr>
            <p:cNvPr name="Freeform 8" id="8"/>
            <p:cNvSpPr/>
            <p:nvPr/>
          </p:nvSpPr>
          <p:spPr>
            <a:xfrm flipH="false" flipV="false" rot="0">
              <a:off x="0" y="0"/>
              <a:ext cx="3209323" cy="1537217"/>
            </a:xfrm>
            <a:custGeom>
              <a:avLst/>
              <a:gdLst/>
              <a:ahLst/>
              <a:cxnLst/>
              <a:rect r="r" b="b" t="t" l="l"/>
              <a:pathLst>
                <a:path h="1537217" w="3209323">
                  <a:moveTo>
                    <a:pt x="26687" y="0"/>
                  </a:moveTo>
                  <a:lnTo>
                    <a:pt x="3182636" y="0"/>
                  </a:lnTo>
                  <a:cubicBezTo>
                    <a:pt x="3189714" y="0"/>
                    <a:pt x="3196502" y="2812"/>
                    <a:pt x="3201507" y="7816"/>
                  </a:cubicBezTo>
                  <a:cubicBezTo>
                    <a:pt x="3206511" y="12821"/>
                    <a:pt x="3209323" y="19609"/>
                    <a:pt x="3209323" y="26687"/>
                  </a:cubicBezTo>
                  <a:lnTo>
                    <a:pt x="3209323" y="1510530"/>
                  </a:lnTo>
                  <a:cubicBezTo>
                    <a:pt x="3209323" y="1517608"/>
                    <a:pt x="3206511" y="1524396"/>
                    <a:pt x="3201507" y="1529401"/>
                  </a:cubicBezTo>
                  <a:cubicBezTo>
                    <a:pt x="3196502" y="1534405"/>
                    <a:pt x="3189714" y="1537217"/>
                    <a:pt x="3182636" y="1537217"/>
                  </a:cubicBezTo>
                  <a:lnTo>
                    <a:pt x="26687" y="1537217"/>
                  </a:lnTo>
                  <a:cubicBezTo>
                    <a:pt x="19609" y="1537217"/>
                    <a:pt x="12821" y="1534405"/>
                    <a:pt x="7816" y="1529401"/>
                  </a:cubicBezTo>
                  <a:cubicBezTo>
                    <a:pt x="2812" y="1524396"/>
                    <a:pt x="0" y="1517608"/>
                    <a:pt x="0" y="1510530"/>
                  </a:cubicBezTo>
                  <a:lnTo>
                    <a:pt x="0" y="26687"/>
                  </a:lnTo>
                  <a:cubicBezTo>
                    <a:pt x="0" y="19609"/>
                    <a:pt x="2812" y="12821"/>
                    <a:pt x="7816" y="7816"/>
                  </a:cubicBezTo>
                  <a:cubicBezTo>
                    <a:pt x="12821" y="2812"/>
                    <a:pt x="19609" y="0"/>
                    <a:pt x="26687" y="0"/>
                  </a:cubicBezTo>
                  <a:close/>
                </a:path>
              </a:pathLst>
            </a:custGeom>
            <a:solidFill>
              <a:srgbClr val="FBF3C3"/>
            </a:solidFill>
            <a:ln w="38100" cap="rnd">
              <a:solidFill>
                <a:srgbClr val="5C94C1"/>
              </a:solidFill>
              <a:prstDash val="solid"/>
              <a:round/>
            </a:ln>
          </p:spPr>
        </p:sp>
        <p:sp>
          <p:nvSpPr>
            <p:cNvPr name="TextBox 9" id="9"/>
            <p:cNvSpPr txBox="true"/>
            <p:nvPr/>
          </p:nvSpPr>
          <p:spPr>
            <a:xfrm>
              <a:off x="0" y="-123825"/>
              <a:ext cx="3209323" cy="1661042"/>
            </a:xfrm>
            <a:prstGeom prst="rect">
              <a:avLst/>
            </a:prstGeom>
          </p:spPr>
          <p:txBody>
            <a:bodyPr anchor="ctr" rtlCol="false" tIns="50800" lIns="50800" bIns="50800" rIns="50800"/>
            <a:lstStyle/>
            <a:p>
              <a:pPr algn="ctr">
                <a:lnSpc>
                  <a:spcPts val="4049"/>
                </a:lnSpc>
              </a:pPr>
              <a:r>
                <a:rPr lang="en-US" sz="2499">
                  <a:solidFill>
                    <a:srgbClr val="5C94C1"/>
                  </a:solidFill>
                  <a:latin typeface="Poppins"/>
                  <a:ea typeface="Poppins"/>
                  <a:cs typeface="Poppins"/>
                  <a:sym typeface="Poppins"/>
                </a:rPr>
                <a:t>Proyek ini </a:t>
              </a:r>
              <a:r>
                <a:rPr lang="en-US" sz="2499">
                  <a:solidFill>
                    <a:srgbClr val="5C94C1"/>
                  </a:solidFill>
                  <a:latin typeface="Poppins"/>
                  <a:ea typeface="Poppins"/>
                  <a:cs typeface="Poppins"/>
                  <a:sym typeface="Poppins"/>
                </a:rPr>
                <a:t>dikembangkan menggunakan </a:t>
              </a:r>
              <a:r>
                <a:rPr lang="en-US" sz="2499">
                  <a:solidFill>
                    <a:srgbClr val="5C94C1"/>
                  </a:solidFill>
                  <a:latin typeface="Poppins"/>
                  <a:ea typeface="Poppins"/>
                  <a:cs typeface="Poppins"/>
                  <a:sym typeface="Poppins"/>
                </a:rPr>
                <a:t>metode </a:t>
              </a:r>
              <a:r>
                <a:rPr lang="en-US" sz="2499">
                  <a:solidFill>
                    <a:srgbClr val="5C94C1"/>
                  </a:solidFill>
                  <a:latin typeface="Poppins"/>
                  <a:ea typeface="Poppins"/>
                  <a:cs typeface="Poppins"/>
                  <a:sym typeface="Poppins"/>
                </a:rPr>
                <a:t>Proto</a:t>
              </a:r>
              <a:r>
                <a:rPr lang="en-US" sz="2499">
                  <a:solidFill>
                    <a:srgbClr val="5C94C1"/>
                  </a:solidFill>
                  <a:latin typeface="Poppins"/>
                  <a:ea typeface="Poppins"/>
                  <a:cs typeface="Poppins"/>
                  <a:sym typeface="Poppins"/>
                </a:rPr>
                <a:t>t</a:t>
              </a:r>
              <a:r>
                <a:rPr lang="en-US" sz="2499">
                  <a:solidFill>
                    <a:srgbClr val="5C94C1"/>
                  </a:solidFill>
                  <a:latin typeface="Poppins"/>
                  <a:ea typeface="Poppins"/>
                  <a:cs typeface="Poppins"/>
                  <a:sym typeface="Poppins"/>
                </a:rPr>
                <a:t>yp</a:t>
              </a:r>
              <a:r>
                <a:rPr lang="en-US" sz="2499">
                  <a:solidFill>
                    <a:srgbClr val="5C94C1"/>
                  </a:solidFill>
                  <a:latin typeface="Poppins"/>
                  <a:ea typeface="Poppins"/>
                  <a:cs typeface="Poppins"/>
                  <a:sym typeface="Poppins"/>
                </a:rPr>
                <a:t>e</a:t>
              </a:r>
              <a:r>
                <a:rPr lang="en-US" sz="2499">
                  <a:solidFill>
                    <a:srgbClr val="5C94C1"/>
                  </a:solidFill>
                  <a:latin typeface="Poppins"/>
                  <a:ea typeface="Poppins"/>
                  <a:cs typeface="Poppins"/>
                  <a:sym typeface="Poppins"/>
                </a:rPr>
                <a:t>, yaitu model pengembangan yang menekankan pembuatan versi awal sistem (prototype) untuk mendapatkan umpan balik langsung dari pengguna. Metode ini dipilih karena sesuai untuk proyek dengan kebutuhan yang masih berkembang. Prosesnya dilakukan secara berulang, mulai dari pembuatan prototype awal, evaluasi oleh pengguna, hingga penyempurnaan sistem agar hasil akhir benar-benar sesuai dengan kebutuhan pengguna.</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5400000">
            <a:off x="-153614" y="-820541"/>
            <a:ext cx="1480949" cy="3351943"/>
          </a:xfrm>
          <a:custGeom>
            <a:avLst/>
            <a:gdLst/>
            <a:ahLst/>
            <a:cxnLst/>
            <a:rect r="r" b="b" t="t" l="l"/>
            <a:pathLst>
              <a:path h="3351943" w="1480949">
                <a:moveTo>
                  <a:pt x="1480950" y="0"/>
                </a:moveTo>
                <a:lnTo>
                  <a:pt x="0" y="0"/>
                </a:lnTo>
                <a:lnTo>
                  <a:pt x="0" y="3351944"/>
                </a:lnTo>
                <a:lnTo>
                  <a:pt x="1480950" y="3351944"/>
                </a:lnTo>
                <a:lnTo>
                  <a:pt x="148095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true" rot="5400000">
            <a:off x="16960664" y="-820541"/>
            <a:ext cx="1480949" cy="3351943"/>
          </a:xfrm>
          <a:custGeom>
            <a:avLst/>
            <a:gdLst/>
            <a:ahLst/>
            <a:cxnLst/>
            <a:rect r="r" b="b" t="t" l="l"/>
            <a:pathLst>
              <a:path h="3351943" w="1480949">
                <a:moveTo>
                  <a:pt x="1480950" y="3351944"/>
                </a:moveTo>
                <a:lnTo>
                  <a:pt x="0" y="3351944"/>
                </a:lnTo>
                <a:lnTo>
                  <a:pt x="0" y="0"/>
                </a:lnTo>
                <a:lnTo>
                  <a:pt x="1480950" y="0"/>
                </a:lnTo>
                <a:lnTo>
                  <a:pt x="1480950" y="3351944"/>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4" id="4"/>
          <p:cNvSpPr txBox="true"/>
          <p:nvPr/>
        </p:nvSpPr>
        <p:spPr>
          <a:xfrm rot="0">
            <a:off x="2054043" y="536348"/>
            <a:ext cx="14179914" cy="914400"/>
          </a:xfrm>
          <a:prstGeom prst="rect">
            <a:avLst/>
          </a:prstGeom>
        </p:spPr>
        <p:txBody>
          <a:bodyPr anchor="t" rtlCol="false" tIns="0" lIns="0" bIns="0" rIns="0">
            <a:spAutoFit/>
          </a:bodyPr>
          <a:lstStyle/>
          <a:p>
            <a:pPr algn="ctr">
              <a:lnSpc>
                <a:spcPts val="7200"/>
              </a:lnSpc>
            </a:pPr>
            <a:r>
              <a:rPr lang="en-US" b="true" sz="6000">
                <a:solidFill>
                  <a:srgbClr val="5C94C1"/>
                </a:solidFill>
                <a:latin typeface="Shantell Sans Bold"/>
                <a:ea typeface="Shantell Sans Bold"/>
                <a:cs typeface="Shantell Sans Bold"/>
                <a:sym typeface="Shantell Sans Bold"/>
              </a:rPr>
              <a:t>WORK BREAKDOWN STRUCTURE</a:t>
            </a:r>
          </a:p>
        </p:txBody>
      </p:sp>
      <p:grpSp>
        <p:nvGrpSpPr>
          <p:cNvPr name="Group 5" id="5"/>
          <p:cNvGrpSpPr/>
          <p:nvPr/>
        </p:nvGrpSpPr>
        <p:grpSpPr>
          <a:xfrm rot="0">
            <a:off x="8031324" y="1926998"/>
            <a:ext cx="2886554" cy="707097"/>
            <a:chOff x="0" y="0"/>
            <a:chExt cx="2695925" cy="660400"/>
          </a:xfrm>
        </p:grpSpPr>
        <p:sp>
          <p:nvSpPr>
            <p:cNvPr name="Freeform 6" id="6"/>
            <p:cNvSpPr/>
            <p:nvPr/>
          </p:nvSpPr>
          <p:spPr>
            <a:xfrm flipH="false" flipV="false" rot="0">
              <a:off x="0" y="0"/>
              <a:ext cx="2695925" cy="660400"/>
            </a:xfrm>
            <a:custGeom>
              <a:avLst/>
              <a:gdLst/>
              <a:ahLst/>
              <a:cxnLst/>
              <a:rect r="r" b="b" t="t" l="l"/>
              <a:pathLst>
                <a:path h="660400" w="2695925">
                  <a:moveTo>
                    <a:pt x="2571465" y="660400"/>
                  </a:moveTo>
                  <a:lnTo>
                    <a:pt x="124460" y="660400"/>
                  </a:lnTo>
                  <a:cubicBezTo>
                    <a:pt x="55880" y="660400"/>
                    <a:pt x="0" y="604520"/>
                    <a:pt x="0" y="535940"/>
                  </a:cubicBezTo>
                  <a:lnTo>
                    <a:pt x="0" y="124460"/>
                  </a:lnTo>
                  <a:cubicBezTo>
                    <a:pt x="0" y="55880"/>
                    <a:pt x="55880" y="0"/>
                    <a:pt x="124460" y="0"/>
                  </a:cubicBezTo>
                  <a:lnTo>
                    <a:pt x="2571465" y="0"/>
                  </a:lnTo>
                  <a:cubicBezTo>
                    <a:pt x="2640045" y="0"/>
                    <a:pt x="2695925" y="55880"/>
                    <a:pt x="2695925" y="124460"/>
                  </a:cubicBezTo>
                  <a:lnTo>
                    <a:pt x="2695925" y="535940"/>
                  </a:lnTo>
                  <a:cubicBezTo>
                    <a:pt x="2695925" y="604520"/>
                    <a:pt x="2640045" y="660400"/>
                    <a:pt x="2571465" y="660400"/>
                  </a:cubicBezTo>
                  <a:close/>
                </a:path>
              </a:pathLst>
            </a:custGeom>
            <a:solidFill>
              <a:srgbClr val="FF66C4"/>
            </a:solidFill>
          </p:spPr>
        </p:sp>
      </p:grpSp>
      <p:grpSp>
        <p:nvGrpSpPr>
          <p:cNvPr name="Group 7" id="7"/>
          <p:cNvGrpSpPr/>
          <p:nvPr/>
        </p:nvGrpSpPr>
        <p:grpSpPr>
          <a:xfrm rot="0">
            <a:off x="2241630" y="5439439"/>
            <a:ext cx="1838170" cy="854064"/>
            <a:chOff x="0" y="0"/>
            <a:chExt cx="2285967" cy="1062122"/>
          </a:xfrm>
        </p:grpSpPr>
        <p:sp>
          <p:nvSpPr>
            <p:cNvPr name="Freeform 8" id="8"/>
            <p:cNvSpPr/>
            <p:nvPr/>
          </p:nvSpPr>
          <p:spPr>
            <a:xfrm flipH="false" flipV="false" rot="0">
              <a:off x="0" y="0"/>
              <a:ext cx="2285967" cy="1062123"/>
            </a:xfrm>
            <a:custGeom>
              <a:avLst/>
              <a:gdLst/>
              <a:ahLst/>
              <a:cxnLst/>
              <a:rect r="r" b="b" t="t" l="l"/>
              <a:pathLst>
                <a:path h="1062123" w="2285967">
                  <a:moveTo>
                    <a:pt x="2161507" y="1062122"/>
                  </a:moveTo>
                  <a:lnTo>
                    <a:pt x="124460" y="1062122"/>
                  </a:lnTo>
                  <a:cubicBezTo>
                    <a:pt x="55880" y="1062122"/>
                    <a:pt x="0" y="1006242"/>
                    <a:pt x="0" y="937662"/>
                  </a:cubicBezTo>
                  <a:lnTo>
                    <a:pt x="0" y="124460"/>
                  </a:lnTo>
                  <a:cubicBezTo>
                    <a:pt x="0" y="55880"/>
                    <a:pt x="55880" y="0"/>
                    <a:pt x="124460" y="0"/>
                  </a:cubicBezTo>
                  <a:lnTo>
                    <a:pt x="2161507" y="0"/>
                  </a:lnTo>
                  <a:cubicBezTo>
                    <a:pt x="2230087" y="0"/>
                    <a:pt x="2285967" y="55880"/>
                    <a:pt x="2285967" y="124460"/>
                  </a:cubicBezTo>
                  <a:lnTo>
                    <a:pt x="2285967" y="937663"/>
                  </a:lnTo>
                  <a:cubicBezTo>
                    <a:pt x="2285967" y="1006242"/>
                    <a:pt x="2230087" y="1062123"/>
                    <a:pt x="2161507" y="1062123"/>
                  </a:cubicBezTo>
                  <a:close/>
                </a:path>
              </a:pathLst>
            </a:custGeom>
            <a:solidFill>
              <a:srgbClr val="59CB4B"/>
            </a:solidFill>
          </p:spPr>
        </p:sp>
      </p:grpSp>
      <p:grpSp>
        <p:nvGrpSpPr>
          <p:cNvPr name="Group 9" id="9"/>
          <p:cNvGrpSpPr/>
          <p:nvPr/>
        </p:nvGrpSpPr>
        <p:grpSpPr>
          <a:xfrm rot="0">
            <a:off x="4271173" y="5756609"/>
            <a:ext cx="1812331" cy="572640"/>
            <a:chOff x="0" y="0"/>
            <a:chExt cx="2285967" cy="722294"/>
          </a:xfrm>
        </p:grpSpPr>
        <p:sp>
          <p:nvSpPr>
            <p:cNvPr name="Freeform 10" id="10"/>
            <p:cNvSpPr/>
            <p:nvPr/>
          </p:nvSpPr>
          <p:spPr>
            <a:xfrm flipH="false" flipV="false" rot="0">
              <a:off x="0" y="0"/>
              <a:ext cx="2285967" cy="722294"/>
            </a:xfrm>
            <a:custGeom>
              <a:avLst/>
              <a:gdLst/>
              <a:ahLst/>
              <a:cxnLst/>
              <a:rect r="r" b="b" t="t" l="l"/>
              <a:pathLst>
                <a:path h="722294" w="2285967">
                  <a:moveTo>
                    <a:pt x="2161507" y="722294"/>
                  </a:moveTo>
                  <a:lnTo>
                    <a:pt x="124460" y="722294"/>
                  </a:lnTo>
                  <a:cubicBezTo>
                    <a:pt x="55880" y="722294"/>
                    <a:pt x="0" y="666414"/>
                    <a:pt x="0" y="597834"/>
                  </a:cubicBezTo>
                  <a:lnTo>
                    <a:pt x="0" y="124460"/>
                  </a:lnTo>
                  <a:cubicBezTo>
                    <a:pt x="0" y="55880"/>
                    <a:pt x="55880" y="0"/>
                    <a:pt x="124460" y="0"/>
                  </a:cubicBezTo>
                  <a:lnTo>
                    <a:pt x="2161507" y="0"/>
                  </a:lnTo>
                  <a:cubicBezTo>
                    <a:pt x="2230087" y="0"/>
                    <a:pt x="2285967" y="55880"/>
                    <a:pt x="2285967" y="124460"/>
                  </a:cubicBezTo>
                  <a:lnTo>
                    <a:pt x="2285967" y="597834"/>
                  </a:lnTo>
                  <a:cubicBezTo>
                    <a:pt x="2285967" y="666414"/>
                    <a:pt x="2230087" y="722294"/>
                    <a:pt x="2161507" y="722294"/>
                  </a:cubicBezTo>
                  <a:close/>
                </a:path>
              </a:pathLst>
            </a:custGeom>
            <a:solidFill>
              <a:srgbClr val="E68FFF"/>
            </a:solidFill>
          </p:spPr>
        </p:sp>
      </p:grpSp>
      <p:sp>
        <p:nvSpPr>
          <p:cNvPr name="AutoShape 11" id="11"/>
          <p:cNvSpPr/>
          <p:nvPr/>
        </p:nvSpPr>
        <p:spPr>
          <a:xfrm>
            <a:off x="9297128" y="5886690"/>
            <a:ext cx="0" cy="341329"/>
          </a:xfrm>
          <a:prstGeom prst="line">
            <a:avLst/>
          </a:prstGeom>
          <a:ln cap="rnd" w="19050">
            <a:solidFill>
              <a:srgbClr val="000000"/>
            </a:solidFill>
            <a:prstDash val="solid"/>
            <a:headEnd type="none" len="sm" w="sm"/>
            <a:tailEnd type="none" len="sm" w="sm"/>
          </a:ln>
        </p:spPr>
      </p:sp>
      <p:grpSp>
        <p:nvGrpSpPr>
          <p:cNvPr name="Group 12" id="12"/>
          <p:cNvGrpSpPr/>
          <p:nvPr/>
        </p:nvGrpSpPr>
        <p:grpSpPr>
          <a:xfrm rot="0">
            <a:off x="8364031" y="5373277"/>
            <a:ext cx="1847070" cy="533606"/>
            <a:chOff x="0" y="0"/>
            <a:chExt cx="2285967" cy="660400"/>
          </a:xfrm>
        </p:grpSpPr>
        <p:sp>
          <p:nvSpPr>
            <p:cNvPr name="Freeform 13" id="13"/>
            <p:cNvSpPr/>
            <p:nvPr/>
          </p:nvSpPr>
          <p:spPr>
            <a:xfrm flipH="false" flipV="false" rot="0">
              <a:off x="0" y="0"/>
              <a:ext cx="2285967" cy="660400"/>
            </a:xfrm>
            <a:custGeom>
              <a:avLst/>
              <a:gdLst/>
              <a:ahLst/>
              <a:cxnLst/>
              <a:rect r="r" b="b" t="t" l="l"/>
              <a:pathLst>
                <a:path h="660400" w="2285967">
                  <a:moveTo>
                    <a:pt x="2161507" y="660400"/>
                  </a:moveTo>
                  <a:lnTo>
                    <a:pt x="124460" y="660400"/>
                  </a:lnTo>
                  <a:cubicBezTo>
                    <a:pt x="55880" y="660400"/>
                    <a:pt x="0" y="604520"/>
                    <a:pt x="0" y="535940"/>
                  </a:cubicBezTo>
                  <a:lnTo>
                    <a:pt x="0" y="124460"/>
                  </a:lnTo>
                  <a:cubicBezTo>
                    <a:pt x="0" y="55880"/>
                    <a:pt x="55880" y="0"/>
                    <a:pt x="124460" y="0"/>
                  </a:cubicBezTo>
                  <a:lnTo>
                    <a:pt x="2161507" y="0"/>
                  </a:lnTo>
                  <a:cubicBezTo>
                    <a:pt x="2230087" y="0"/>
                    <a:pt x="2285967" y="55880"/>
                    <a:pt x="2285967" y="124460"/>
                  </a:cubicBezTo>
                  <a:lnTo>
                    <a:pt x="2285967" y="535940"/>
                  </a:lnTo>
                  <a:cubicBezTo>
                    <a:pt x="2285967" y="604520"/>
                    <a:pt x="2230087" y="660400"/>
                    <a:pt x="2161507" y="660400"/>
                  </a:cubicBezTo>
                  <a:close/>
                </a:path>
              </a:pathLst>
            </a:custGeom>
            <a:solidFill>
              <a:srgbClr val="F44A4A"/>
            </a:solidFill>
          </p:spPr>
        </p:sp>
      </p:grpSp>
      <p:grpSp>
        <p:nvGrpSpPr>
          <p:cNvPr name="Group 14" id="14"/>
          <p:cNvGrpSpPr/>
          <p:nvPr/>
        </p:nvGrpSpPr>
        <p:grpSpPr>
          <a:xfrm rot="0">
            <a:off x="2235242" y="7449882"/>
            <a:ext cx="1838170" cy="531035"/>
            <a:chOff x="0" y="0"/>
            <a:chExt cx="2285967" cy="660400"/>
          </a:xfrm>
        </p:grpSpPr>
        <p:sp>
          <p:nvSpPr>
            <p:cNvPr name="Freeform 15" id="15"/>
            <p:cNvSpPr/>
            <p:nvPr/>
          </p:nvSpPr>
          <p:spPr>
            <a:xfrm flipH="false" flipV="false" rot="0">
              <a:off x="0" y="0"/>
              <a:ext cx="2285967" cy="660400"/>
            </a:xfrm>
            <a:custGeom>
              <a:avLst/>
              <a:gdLst/>
              <a:ahLst/>
              <a:cxnLst/>
              <a:rect r="r" b="b" t="t" l="l"/>
              <a:pathLst>
                <a:path h="660400" w="2285967">
                  <a:moveTo>
                    <a:pt x="2161507" y="660400"/>
                  </a:moveTo>
                  <a:lnTo>
                    <a:pt x="124460" y="660400"/>
                  </a:lnTo>
                  <a:cubicBezTo>
                    <a:pt x="55880" y="660400"/>
                    <a:pt x="0" y="604520"/>
                    <a:pt x="0" y="535940"/>
                  </a:cubicBezTo>
                  <a:lnTo>
                    <a:pt x="0" y="124460"/>
                  </a:lnTo>
                  <a:cubicBezTo>
                    <a:pt x="0" y="55880"/>
                    <a:pt x="55880" y="0"/>
                    <a:pt x="124460" y="0"/>
                  </a:cubicBezTo>
                  <a:lnTo>
                    <a:pt x="2161507" y="0"/>
                  </a:lnTo>
                  <a:cubicBezTo>
                    <a:pt x="2230087" y="0"/>
                    <a:pt x="2285967" y="55880"/>
                    <a:pt x="2285967" y="124460"/>
                  </a:cubicBezTo>
                  <a:lnTo>
                    <a:pt x="2285967" y="535940"/>
                  </a:lnTo>
                  <a:cubicBezTo>
                    <a:pt x="2285967" y="604520"/>
                    <a:pt x="2230087" y="660400"/>
                    <a:pt x="2161507" y="660400"/>
                  </a:cubicBezTo>
                  <a:close/>
                </a:path>
              </a:pathLst>
            </a:custGeom>
            <a:solidFill>
              <a:srgbClr val="59CB4B"/>
            </a:solidFill>
          </p:spPr>
        </p:sp>
      </p:grpSp>
      <p:grpSp>
        <p:nvGrpSpPr>
          <p:cNvPr name="Group 16" id="16"/>
          <p:cNvGrpSpPr/>
          <p:nvPr/>
        </p:nvGrpSpPr>
        <p:grpSpPr>
          <a:xfrm rot="0">
            <a:off x="8359388" y="6207498"/>
            <a:ext cx="1831444" cy="561029"/>
            <a:chOff x="0" y="0"/>
            <a:chExt cx="2155835" cy="660400"/>
          </a:xfrm>
        </p:grpSpPr>
        <p:sp>
          <p:nvSpPr>
            <p:cNvPr name="Freeform 17" id="17"/>
            <p:cNvSpPr/>
            <p:nvPr/>
          </p:nvSpPr>
          <p:spPr>
            <a:xfrm flipH="false" flipV="false" rot="0">
              <a:off x="0" y="0"/>
              <a:ext cx="2155835" cy="660400"/>
            </a:xfrm>
            <a:custGeom>
              <a:avLst/>
              <a:gdLst/>
              <a:ahLst/>
              <a:cxnLst/>
              <a:rect r="r" b="b" t="t" l="l"/>
              <a:pathLst>
                <a:path h="660400" w="2155835">
                  <a:moveTo>
                    <a:pt x="2031375" y="660400"/>
                  </a:moveTo>
                  <a:lnTo>
                    <a:pt x="124460" y="660400"/>
                  </a:lnTo>
                  <a:cubicBezTo>
                    <a:pt x="55880" y="660400"/>
                    <a:pt x="0" y="604520"/>
                    <a:pt x="0" y="535940"/>
                  </a:cubicBezTo>
                  <a:lnTo>
                    <a:pt x="0" y="124460"/>
                  </a:lnTo>
                  <a:cubicBezTo>
                    <a:pt x="0" y="55880"/>
                    <a:pt x="55880" y="0"/>
                    <a:pt x="124460" y="0"/>
                  </a:cubicBezTo>
                  <a:lnTo>
                    <a:pt x="2031375" y="0"/>
                  </a:lnTo>
                  <a:cubicBezTo>
                    <a:pt x="2099955" y="0"/>
                    <a:pt x="2155835" y="55880"/>
                    <a:pt x="2155835" y="124460"/>
                  </a:cubicBezTo>
                  <a:lnTo>
                    <a:pt x="2155835" y="535940"/>
                  </a:lnTo>
                  <a:cubicBezTo>
                    <a:pt x="2155835" y="604520"/>
                    <a:pt x="2099955" y="660400"/>
                    <a:pt x="2031375" y="660400"/>
                  </a:cubicBezTo>
                  <a:close/>
                </a:path>
              </a:pathLst>
            </a:custGeom>
            <a:solidFill>
              <a:srgbClr val="F44A4A"/>
            </a:solidFill>
          </p:spPr>
        </p:sp>
      </p:grpSp>
      <p:sp>
        <p:nvSpPr>
          <p:cNvPr name="AutoShape 18" id="18"/>
          <p:cNvSpPr/>
          <p:nvPr/>
        </p:nvSpPr>
        <p:spPr>
          <a:xfrm flipH="true" flipV="true">
            <a:off x="3147147" y="4086679"/>
            <a:ext cx="7180" cy="536921"/>
          </a:xfrm>
          <a:prstGeom prst="line">
            <a:avLst/>
          </a:prstGeom>
          <a:ln cap="rnd" w="19050">
            <a:solidFill>
              <a:srgbClr val="000000"/>
            </a:solidFill>
            <a:prstDash val="solid"/>
            <a:headEnd type="none" len="sm" w="sm"/>
            <a:tailEnd type="none" len="sm" w="sm"/>
          </a:ln>
        </p:spPr>
      </p:sp>
      <p:grpSp>
        <p:nvGrpSpPr>
          <p:cNvPr name="Group 19" id="19"/>
          <p:cNvGrpSpPr/>
          <p:nvPr/>
        </p:nvGrpSpPr>
        <p:grpSpPr>
          <a:xfrm rot="0">
            <a:off x="2241630" y="3704123"/>
            <a:ext cx="1838170" cy="531035"/>
            <a:chOff x="0" y="0"/>
            <a:chExt cx="2285967" cy="660400"/>
          </a:xfrm>
        </p:grpSpPr>
        <p:sp>
          <p:nvSpPr>
            <p:cNvPr name="Freeform 20" id="20"/>
            <p:cNvSpPr/>
            <p:nvPr/>
          </p:nvSpPr>
          <p:spPr>
            <a:xfrm flipH="false" flipV="false" rot="0">
              <a:off x="0" y="0"/>
              <a:ext cx="2285967" cy="660400"/>
            </a:xfrm>
            <a:custGeom>
              <a:avLst/>
              <a:gdLst/>
              <a:ahLst/>
              <a:cxnLst/>
              <a:rect r="r" b="b" t="t" l="l"/>
              <a:pathLst>
                <a:path h="660400" w="2285967">
                  <a:moveTo>
                    <a:pt x="2161507" y="660400"/>
                  </a:moveTo>
                  <a:lnTo>
                    <a:pt x="124460" y="660400"/>
                  </a:lnTo>
                  <a:cubicBezTo>
                    <a:pt x="55880" y="660400"/>
                    <a:pt x="0" y="604520"/>
                    <a:pt x="0" y="535940"/>
                  </a:cubicBezTo>
                  <a:lnTo>
                    <a:pt x="0" y="124460"/>
                  </a:lnTo>
                  <a:cubicBezTo>
                    <a:pt x="0" y="55880"/>
                    <a:pt x="55880" y="0"/>
                    <a:pt x="124460" y="0"/>
                  </a:cubicBezTo>
                  <a:lnTo>
                    <a:pt x="2161507" y="0"/>
                  </a:lnTo>
                  <a:cubicBezTo>
                    <a:pt x="2230087" y="0"/>
                    <a:pt x="2285967" y="55880"/>
                    <a:pt x="2285967" y="124460"/>
                  </a:cubicBezTo>
                  <a:lnTo>
                    <a:pt x="2285967" y="535940"/>
                  </a:lnTo>
                  <a:cubicBezTo>
                    <a:pt x="2285967" y="604520"/>
                    <a:pt x="2230087" y="660400"/>
                    <a:pt x="2161507" y="660400"/>
                  </a:cubicBezTo>
                  <a:close/>
                </a:path>
              </a:pathLst>
            </a:custGeom>
            <a:solidFill>
              <a:srgbClr val="E4760F"/>
            </a:solidFill>
          </p:spPr>
        </p:sp>
      </p:grpSp>
      <p:grpSp>
        <p:nvGrpSpPr>
          <p:cNvPr name="Group 21" id="21"/>
          <p:cNvGrpSpPr/>
          <p:nvPr/>
        </p:nvGrpSpPr>
        <p:grpSpPr>
          <a:xfrm rot="0">
            <a:off x="2241630" y="4561693"/>
            <a:ext cx="1838170" cy="571946"/>
            <a:chOff x="0" y="0"/>
            <a:chExt cx="2285967" cy="711277"/>
          </a:xfrm>
        </p:grpSpPr>
        <p:sp>
          <p:nvSpPr>
            <p:cNvPr name="Freeform 22" id="22"/>
            <p:cNvSpPr/>
            <p:nvPr/>
          </p:nvSpPr>
          <p:spPr>
            <a:xfrm flipH="false" flipV="false" rot="0">
              <a:off x="0" y="0"/>
              <a:ext cx="2285967" cy="711278"/>
            </a:xfrm>
            <a:custGeom>
              <a:avLst/>
              <a:gdLst/>
              <a:ahLst/>
              <a:cxnLst/>
              <a:rect r="r" b="b" t="t" l="l"/>
              <a:pathLst>
                <a:path h="711278" w="2285967">
                  <a:moveTo>
                    <a:pt x="2161507" y="711277"/>
                  </a:moveTo>
                  <a:lnTo>
                    <a:pt x="124460" y="711277"/>
                  </a:lnTo>
                  <a:cubicBezTo>
                    <a:pt x="55880" y="711277"/>
                    <a:pt x="0" y="655397"/>
                    <a:pt x="0" y="586817"/>
                  </a:cubicBezTo>
                  <a:lnTo>
                    <a:pt x="0" y="124460"/>
                  </a:lnTo>
                  <a:cubicBezTo>
                    <a:pt x="0" y="55880"/>
                    <a:pt x="55880" y="0"/>
                    <a:pt x="124460" y="0"/>
                  </a:cubicBezTo>
                  <a:lnTo>
                    <a:pt x="2161507" y="0"/>
                  </a:lnTo>
                  <a:cubicBezTo>
                    <a:pt x="2230087" y="0"/>
                    <a:pt x="2285967" y="55880"/>
                    <a:pt x="2285967" y="124460"/>
                  </a:cubicBezTo>
                  <a:lnTo>
                    <a:pt x="2285967" y="586818"/>
                  </a:lnTo>
                  <a:cubicBezTo>
                    <a:pt x="2285967" y="655397"/>
                    <a:pt x="2230087" y="711278"/>
                    <a:pt x="2161507" y="711278"/>
                  </a:cubicBezTo>
                  <a:close/>
                </a:path>
              </a:pathLst>
            </a:custGeom>
            <a:solidFill>
              <a:srgbClr val="59CB4B"/>
            </a:solidFill>
          </p:spPr>
        </p:sp>
      </p:grpSp>
      <p:grpSp>
        <p:nvGrpSpPr>
          <p:cNvPr name="Group 23" id="23"/>
          <p:cNvGrpSpPr/>
          <p:nvPr/>
        </p:nvGrpSpPr>
        <p:grpSpPr>
          <a:xfrm rot="0">
            <a:off x="2253371" y="6598302"/>
            <a:ext cx="1838170" cy="541011"/>
            <a:chOff x="0" y="0"/>
            <a:chExt cx="2285967" cy="672807"/>
          </a:xfrm>
        </p:grpSpPr>
        <p:sp>
          <p:nvSpPr>
            <p:cNvPr name="Freeform 24" id="24"/>
            <p:cNvSpPr/>
            <p:nvPr/>
          </p:nvSpPr>
          <p:spPr>
            <a:xfrm flipH="false" flipV="false" rot="0">
              <a:off x="0" y="0"/>
              <a:ext cx="2285967" cy="672808"/>
            </a:xfrm>
            <a:custGeom>
              <a:avLst/>
              <a:gdLst/>
              <a:ahLst/>
              <a:cxnLst/>
              <a:rect r="r" b="b" t="t" l="l"/>
              <a:pathLst>
                <a:path h="672808" w="2285967">
                  <a:moveTo>
                    <a:pt x="2161507" y="672807"/>
                  </a:moveTo>
                  <a:lnTo>
                    <a:pt x="124460" y="672807"/>
                  </a:lnTo>
                  <a:cubicBezTo>
                    <a:pt x="55880" y="672807"/>
                    <a:pt x="0" y="616928"/>
                    <a:pt x="0" y="548347"/>
                  </a:cubicBezTo>
                  <a:lnTo>
                    <a:pt x="0" y="124460"/>
                  </a:lnTo>
                  <a:cubicBezTo>
                    <a:pt x="0" y="55880"/>
                    <a:pt x="55880" y="0"/>
                    <a:pt x="124460" y="0"/>
                  </a:cubicBezTo>
                  <a:lnTo>
                    <a:pt x="2161507" y="0"/>
                  </a:lnTo>
                  <a:cubicBezTo>
                    <a:pt x="2230087" y="0"/>
                    <a:pt x="2285967" y="55880"/>
                    <a:pt x="2285967" y="124460"/>
                  </a:cubicBezTo>
                  <a:lnTo>
                    <a:pt x="2285967" y="548348"/>
                  </a:lnTo>
                  <a:cubicBezTo>
                    <a:pt x="2285967" y="616928"/>
                    <a:pt x="2230087" y="672808"/>
                    <a:pt x="2161507" y="672808"/>
                  </a:cubicBezTo>
                  <a:close/>
                </a:path>
              </a:pathLst>
            </a:custGeom>
            <a:solidFill>
              <a:srgbClr val="59CB4B"/>
            </a:solidFill>
          </p:spPr>
        </p:sp>
      </p:grpSp>
      <p:grpSp>
        <p:nvGrpSpPr>
          <p:cNvPr name="Group 25" id="25"/>
          <p:cNvGrpSpPr/>
          <p:nvPr/>
        </p:nvGrpSpPr>
        <p:grpSpPr>
          <a:xfrm rot="0">
            <a:off x="4259409" y="6739705"/>
            <a:ext cx="1812331" cy="558860"/>
            <a:chOff x="0" y="0"/>
            <a:chExt cx="2285967" cy="704913"/>
          </a:xfrm>
        </p:grpSpPr>
        <p:sp>
          <p:nvSpPr>
            <p:cNvPr name="Freeform 26" id="26"/>
            <p:cNvSpPr/>
            <p:nvPr/>
          </p:nvSpPr>
          <p:spPr>
            <a:xfrm flipH="false" flipV="false" rot="0">
              <a:off x="0" y="0"/>
              <a:ext cx="2285967" cy="704913"/>
            </a:xfrm>
            <a:custGeom>
              <a:avLst/>
              <a:gdLst/>
              <a:ahLst/>
              <a:cxnLst/>
              <a:rect r="r" b="b" t="t" l="l"/>
              <a:pathLst>
                <a:path h="704913" w="2285967">
                  <a:moveTo>
                    <a:pt x="2161507" y="704913"/>
                  </a:moveTo>
                  <a:lnTo>
                    <a:pt x="124460" y="704913"/>
                  </a:lnTo>
                  <a:cubicBezTo>
                    <a:pt x="55880" y="704913"/>
                    <a:pt x="0" y="649033"/>
                    <a:pt x="0" y="580453"/>
                  </a:cubicBezTo>
                  <a:lnTo>
                    <a:pt x="0" y="124460"/>
                  </a:lnTo>
                  <a:cubicBezTo>
                    <a:pt x="0" y="55880"/>
                    <a:pt x="55880" y="0"/>
                    <a:pt x="124460" y="0"/>
                  </a:cubicBezTo>
                  <a:lnTo>
                    <a:pt x="2161507" y="0"/>
                  </a:lnTo>
                  <a:cubicBezTo>
                    <a:pt x="2230087" y="0"/>
                    <a:pt x="2285967" y="55880"/>
                    <a:pt x="2285967" y="124460"/>
                  </a:cubicBezTo>
                  <a:lnTo>
                    <a:pt x="2285967" y="580453"/>
                  </a:lnTo>
                  <a:cubicBezTo>
                    <a:pt x="2285967" y="649033"/>
                    <a:pt x="2230087" y="704913"/>
                    <a:pt x="2161507" y="704913"/>
                  </a:cubicBezTo>
                  <a:close/>
                </a:path>
              </a:pathLst>
            </a:custGeom>
            <a:solidFill>
              <a:srgbClr val="E68FFF"/>
            </a:solidFill>
          </p:spPr>
        </p:sp>
      </p:grpSp>
      <p:grpSp>
        <p:nvGrpSpPr>
          <p:cNvPr name="Group 27" id="27"/>
          <p:cNvGrpSpPr/>
          <p:nvPr/>
        </p:nvGrpSpPr>
        <p:grpSpPr>
          <a:xfrm rot="0">
            <a:off x="4280698" y="3702192"/>
            <a:ext cx="1812331" cy="631160"/>
            <a:chOff x="0" y="0"/>
            <a:chExt cx="2285967" cy="796108"/>
          </a:xfrm>
        </p:grpSpPr>
        <p:sp>
          <p:nvSpPr>
            <p:cNvPr name="Freeform 28" id="28"/>
            <p:cNvSpPr/>
            <p:nvPr/>
          </p:nvSpPr>
          <p:spPr>
            <a:xfrm flipH="false" flipV="false" rot="0">
              <a:off x="0" y="0"/>
              <a:ext cx="2285967" cy="796109"/>
            </a:xfrm>
            <a:custGeom>
              <a:avLst/>
              <a:gdLst/>
              <a:ahLst/>
              <a:cxnLst/>
              <a:rect r="r" b="b" t="t" l="l"/>
              <a:pathLst>
                <a:path h="796109" w="2285967">
                  <a:moveTo>
                    <a:pt x="2161507" y="796108"/>
                  </a:moveTo>
                  <a:lnTo>
                    <a:pt x="124460" y="796108"/>
                  </a:lnTo>
                  <a:cubicBezTo>
                    <a:pt x="55880" y="796108"/>
                    <a:pt x="0" y="740228"/>
                    <a:pt x="0" y="671648"/>
                  </a:cubicBezTo>
                  <a:lnTo>
                    <a:pt x="0" y="124460"/>
                  </a:lnTo>
                  <a:cubicBezTo>
                    <a:pt x="0" y="55880"/>
                    <a:pt x="55880" y="0"/>
                    <a:pt x="124460" y="0"/>
                  </a:cubicBezTo>
                  <a:lnTo>
                    <a:pt x="2161507" y="0"/>
                  </a:lnTo>
                  <a:cubicBezTo>
                    <a:pt x="2230087" y="0"/>
                    <a:pt x="2285967" y="55880"/>
                    <a:pt x="2285967" y="124460"/>
                  </a:cubicBezTo>
                  <a:lnTo>
                    <a:pt x="2285967" y="671648"/>
                  </a:lnTo>
                  <a:cubicBezTo>
                    <a:pt x="2285967" y="740228"/>
                    <a:pt x="2230087" y="796109"/>
                    <a:pt x="2161507" y="796109"/>
                  </a:cubicBezTo>
                  <a:close/>
                </a:path>
              </a:pathLst>
            </a:custGeom>
            <a:solidFill>
              <a:srgbClr val="E4760F"/>
            </a:solidFill>
          </p:spPr>
        </p:sp>
      </p:grpSp>
      <p:grpSp>
        <p:nvGrpSpPr>
          <p:cNvPr name="Group 29" id="29"/>
          <p:cNvGrpSpPr/>
          <p:nvPr/>
        </p:nvGrpSpPr>
        <p:grpSpPr>
          <a:xfrm rot="0">
            <a:off x="4236246" y="4590528"/>
            <a:ext cx="1812331" cy="792077"/>
            <a:chOff x="0" y="0"/>
            <a:chExt cx="2285967" cy="999078"/>
          </a:xfrm>
        </p:grpSpPr>
        <p:sp>
          <p:nvSpPr>
            <p:cNvPr name="Freeform 30" id="30"/>
            <p:cNvSpPr/>
            <p:nvPr/>
          </p:nvSpPr>
          <p:spPr>
            <a:xfrm flipH="false" flipV="false" rot="0">
              <a:off x="0" y="0"/>
              <a:ext cx="2285967" cy="999079"/>
            </a:xfrm>
            <a:custGeom>
              <a:avLst/>
              <a:gdLst/>
              <a:ahLst/>
              <a:cxnLst/>
              <a:rect r="r" b="b" t="t" l="l"/>
              <a:pathLst>
                <a:path h="999079" w="2285967">
                  <a:moveTo>
                    <a:pt x="2161507" y="999078"/>
                  </a:moveTo>
                  <a:lnTo>
                    <a:pt x="124460" y="999078"/>
                  </a:lnTo>
                  <a:cubicBezTo>
                    <a:pt x="55880" y="999078"/>
                    <a:pt x="0" y="943198"/>
                    <a:pt x="0" y="874618"/>
                  </a:cubicBezTo>
                  <a:lnTo>
                    <a:pt x="0" y="124460"/>
                  </a:lnTo>
                  <a:cubicBezTo>
                    <a:pt x="0" y="55880"/>
                    <a:pt x="55880" y="0"/>
                    <a:pt x="124460" y="0"/>
                  </a:cubicBezTo>
                  <a:lnTo>
                    <a:pt x="2161507" y="0"/>
                  </a:lnTo>
                  <a:cubicBezTo>
                    <a:pt x="2230087" y="0"/>
                    <a:pt x="2285967" y="55880"/>
                    <a:pt x="2285967" y="124460"/>
                  </a:cubicBezTo>
                  <a:lnTo>
                    <a:pt x="2285967" y="874619"/>
                  </a:lnTo>
                  <a:cubicBezTo>
                    <a:pt x="2285967" y="943198"/>
                    <a:pt x="2230087" y="999079"/>
                    <a:pt x="2161507" y="999079"/>
                  </a:cubicBezTo>
                  <a:close/>
                </a:path>
              </a:pathLst>
            </a:custGeom>
            <a:solidFill>
              <a:srgbClr val="E68FFF"/>
            </a:solidFill>
          </p:spPr>
        </p:sp>
      </p:grpSp>
      <p:grpSp>
        <p:nvGrpSpPr>
          <p:cNvPr name="Group 31" id="31"/>
          <p:cNvGrpSpPr/>
          <p:nvPr/>
        </p:nvGrpSpPr>
        <p:grpSpPr>
          <a:xfrm rot="0">
            <a:off x="8364031" y="3722012"/>
            <a:ext cx="1847070" cy="541505"/>
            <a:chOff x="0" y="0"/>
            <a:chExt cx="2285967" cy="670176"/>
          </a:xfrm>
        </p:grpSpPr>
        <p:sp>
          <p:nvSpPr>
            <p:cNvPr name="Freeform 32" id="32"/>
            <p:cNvSpPr/>
            <p:nvPr/>
          </p:nvSpPr>
          <p:spPr>
            <a:xfrm flipH="false" flipV="false" rot="0">
              <a:off x="0" y="0"/>
              <a:ext cx="2285967" cy="670176"/>
            </a:xfrm>
            <a:custGeom>
              <a:avLst/>
              <a:gdLst/>
              <a:ahLst/>
              <a:cxnLst/>
              <a:rect r="r" b="b" t="t" l="l"/>
              <a:pathLst>
                <a:path h="670176" w="2285967">
                  <a:moveTo>
                    <a:pt x="2161507" y="670176"/>
                  </a:moveTo>
                  <a:lnTo>
                    <a:pt x="124460" y="670176"/>
                  </a:lnTo>
                  <a:cubicBezTo>
                    <a:pt x="55880" y="670176"/>
                    <a:pt x="0" y="614296"/>
                    <a:pt x="0" y="545716"/>
                  </a:cubicBezTo>
                  <a:lnTo>
                    <a:pt x="0" y="124460"/>
                  </a:lnTo>
                  <a:cubicBezTo>
                    <a:pt x="0" y="55880"/>
                    <a:pt x="55880" y="0"/>
                    <a:pt x="124460" y="0"/>
                  </a:cubicBezTo>
                  <a:lnTo>
                    <a:pt x="2161507" y="0"/>
                  </a:lnTo>
                  <a:cubicBezTo>
                    <a:pt x="2230087" y="0"/>
                    <a:pt x="2285967" y="55880"/>
                    <a:pt x="2285967" y="124460"/>
                  </a:cubicBezTo>
                  <a:lnTo>
                    <a:pt x="2285967" y="545716"/>
                  </a:lnTo>
                  <a:cubicBezTo>
                    <a:pt x="2285967" y="614296"/>
                    <a:pt x="2230087" y="670176"/>
                    <a:pt x="2161507" y="670176"/>
                  </a:cubicBezTo>
                  <a:close/>
                </a:path>
              </a:pathLst>
            </a:custGeom>
            <a:solidFill>
              <a:srgbClr val="E4760F"/>
            </a:solidFill>
          </p:spPr>
        </p:sp>
      </p:grpSp>
      <p:sp>
        <p:nvSpPr>
          <p:cNvPr name="AutoShape 33" id="33"/>
          <p:cNvSpPr/>
          <p:nvPr/>
        </p:nvSpPr>
        <p:spPr>
          <a:xfrm>
            <a:off x="9305634" y="5041413"/>
            <a:ext cx="0" cy="341329"/>
          </a:xfrm>
          <a:prstGeom prst="line">
            <a:avLst/>
          </a:prstGeom>
          <a:ln cap="rnd" w="19050">
            <a:solidFill>
              <a:srgbClr val="000000"/>
            </a:solidFill>
            <a:prstDash val="solid"/>
            <a:headEnd type="none" len="sm" w="sm"/>
            <a:tailEnd type="none" len="sm" w="sm"/>
          </a:ln>
        </p:spPr>
      </p:sp>
      <p:grpSp>
        <p:nvGrpSpPr>
          <p:cNvPr name="Group 34" id="34"/>
          <p:cNvGrpSpPr/>
          <p:nvPr/>
        </p:nvGrpSpPr>
        <p:grpSpPr>
          <a:xfrm rot="0">
            <a:off x="8364031" y="4532518"/>
            <a:ext cx="1847070" cy="533606"/>
            <a:chOff x="0" y="0"/>
            <a:chExt cx="2285967" cy="660400"/>
          </a:xfrm>
        </p:grpSpPr>
        <p:sp>
          <p:nvSpPr>
            <p:cNvPr name="Freeform 35" id="35"/>
            <p:cNvSpPr/>
            <p:nvPr/>
          </p:nvSpPr>
          <p:spPr>
            <a:xfrm flipH="false" flipV="false" rot="0">
              <a:off x="0" y="0"/>
              <a:ext cx="2285967" cy="660400"/>
            </a:xfrm>
            <a:custGeom>
              <a:avLst/>
              <a:gdLst/>
              <a:ahLst/>
              <a:cxnLst/>
              <a:rect r="r" b="b" t="t" l="l"/>
              <a:pathLst>
                <a:path h="660400" w="2285967">
                  <a:moveTo>
                    <a:pt x="2161507" y="660400"/>
                  </a:moveTo>
                  <a:lnTo>
                    <a:pt x="124460" y="660400"/>
                  </a:lnTo>
                  <a:cubicBezTo>
                    <a:pt x="55880" y="660400"/>
                    <a:pt x="0" y="604520"/>
                    <a:pt x="0" y="535940"/>
                  </a:cubicBezTo>
                  <a:lnTo>
                    <a:pt x="0" y="124460"/>
                  </a:lnTo>
                  <a:cubicBezTo>
                    <a:pt x="0" y="55880"/>
                    <a:pt x="55880" y="0"/>
                    <a:pt x="124460" y="0"/>
                  </a:cubicBezTo>
                  <a:lnTo>
                    <a:pt x="2161507" y="0"/>
                  </a:lnTo>
                  <a:cubicBezTo>
                    <a:pt x="2230087" y="0"/>
                    <a:pt x="2285967" y="55880"/>
                    <a:pt x="2285967" y="124460"/>
                  </a:cubicBezTo>
                  <a:lnTo>
                    <a:pt x="2285967" y="535940"/>
                  </a:lnTo>
                  <a:cubicBezTo>
                    <a:pt x="2285967" y="604520"/>
                    <a:pt x="2230087" y="660400"/>
                    <a:pt x="2161507" y="660400"/>
                  </a:cubicBezTo>
                  <a:close/>
                </a:path>
              </a:pathLst>
            </a:custGeom>
            <a:solidFill>
              <a:srgbClr val="F44A4A"/>
            </a:solidFill>
          </p:spPr>
        </p:sp>
      </p:grpSp>
      <p:sp>
        <p:nvSpPr>
          <p:cNvPr name="AutoShape 36" id="36"/>
          <p:cNvSpPr/>
          <p:nvPr/>
        </p:nvSpPr>
        <p:spPr>
          <a:xfrm>
            <a:off x="1115105" y="2993591"/>
            <a:ext cx="16206256" cy="0"/>
          </a:xfrm>
          <a:prstGeom prst="line">
            <a:avLst/>
          </a:prstGeom>
          <a:ln cap="rnd" w="19050">
            <a:solidFill>
              <a:srgbClr val="000000"/>
            </a:solidFill>
            <a:prstDash val="solid"/>
            <a:headEnd type="none" len="sm" w="sm"/>
            <a:tailEnd type="none" len="sm" w="sm"/>
          </a:ln>
        </p:spPr>
      </p:sp>
      <p:sp>
        <p:nvSpPr>
          <p:cNvPr name="AutoShape 37" id="37"/>
          <p:cNvSpPr/>
          <p:nvPr/>
        </p:nvSpPr>
        <p:spPr>
          <a:xfrm flipV="true">
            <a:off x="9474601" y="2626019"/>
            <a:ext cx="0" cy="367572"/>
          </a:xfrm>
          <a:prstGeom prst="line">
            <a:avLst/>
          </a:prstGeom>
          <a:ln cap="rnd" w="19050">
            <a:solidFill>
              <a:srgbClr val="000000"/>
            </a:solidFill>
            <a:prstDash val="solid"/>
            <a:headEnd type="none" len="sm" w="sm"/>
            <a:tailEnd type="none" len="sm" w="sm"/>
          </a:ln>
        </p:spPr>
      </p:sp>
      <p:sp>
        <p:nvSpPr>
          <p:cNvPr name="AutoShape 38" id="38"/>
          <p:cNvSpPr/>
          <p:nvPr/>
        </p:nvSpPr>
        <p:spPr>
          <a:xfrm flipV="true">
            <a:off x="3157783" y="2993591"/>
            <a:ext cx="2932" cy="710532"/>
          </a:xfrm>
          <a:prstGeom prst="line">
            <a:avLst/>
          </a:prstGeom>
          <a:ln cap="rnd" w="19050">
            <a:solidFill>
              <a:srgbClr val="000000"/>
            </a:solidFill>
            <a:prstDash val="solid"/>
            <a:headEnd type="none" len="sm" w="sm"/>
            <a:tailEnd type="none" len="sm" w="sm"/>
          </a:ln>
        </p:spPr>
      </p:sp>
      <p:sp>
        <p:nvSpPr>
          <p:cNvPr name="AutoShape 39" id="39"/>
          <p:cNvSpPr/>
          <p:nvPr/>
        </p:nvSpPr>
        <p:spPr>
          <a:xfrm flipV="true">
            <a:off x="5186864" y="4333353"/>
            <a:ext cx="0" cy="273903"/>
          </a:xfrm>
          <a:prstGeom prst="line">
            <a:avLst/>
          </a:prstGeom>
          <a:ln cap="rnd" w="19050">
            <a:solidFill>
              <a:srgbClr val="000000"/>
            </a:solidFill>
            <a:prstDash val="solid"/>
            <a:headEnd type="none" len="sm" w="sm"/>
            <a:tailEnd type="none" len="sm" w="sm"/>
          </a:ln>
        </p:spPr>
      </p:sp>
      <p:sp>
        <p:nvSpPr>
          <p:cNvPr name="AutoShape 40" id="40"/>
          <p:cNvSpPr/>
          <p:nvPr/>
        </p:nvSpPr>
        <p:spPr>
          <a:xfrm flipH="true" flipV="true">
            <a:off x="9296401" y="4265838"/>
            <a:ext cx="728" cy="276363"/>
          </a:xfrm>
          <a:prstGeom prst="line">
            <a:avLst/>
          </a:prstGeom>
          <a:ln cap="rnd" w="19050">
            <a:solidFill>
              <a:srgbClr val="000000"/>
            </a:solidFill>
            <a:prstDash val="solid"/>
            <a:headEnd type="none" len="sm" w="sm"/>
            <a:tailEnd type="none" len="sm" w="sm"/>
          </a:ln>
        </p:spPr>
      </p:sp>
      <p:sp>
        <p:nvSpPr>
          <p:cNvPr name="TextBox 41" id="41"/>
          <p:cNvSpPr txBox="true"/>
          <p:nvPr/>
        </p:nvSpPr>
        <p:spPr>
          <a:xfrm rot="0">
            <a:off x="2285423" y="5477541"/>
            <a:ext cx="1776444" cy="755015"/>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Poppins Bold"/>
                <a:ea typeface="Poppins Bold"/>
                <a:cs typeface="Poppins Bold"/>
                <a:sym typeface="Poppins Bold"/>
              </a:rPr>
              <a:t>2.2 Identifikasi Masalah dan Kebutuhan</a:t>
            </a:r>
          </a:p>
        </p:txBody>
      </p:sp>
      <p:sp>
        <p:nvSpPr>
          <p:cNvPr name="TextBox 42" id="42"/>
          <p:cNvSpPr txBox="true"/>
          <p:nvPr/>
        </p:nvSpPr>
        <p:spPr>
          <a:xfrm rot="0">
            <a:off x="4280698" y="5736159"/>
            <a:ext cx="1769753" cy="507365"/>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Poppins Bold"/>
                <a:ea typeface="Poppins Bold"/>
                <a:cs typeface="Poppins Bold"/>
                <a:sym typeface="Poppins Bold"/>
              </a:rPr>
              <a:t>3.2 Mendesain UI/UX </a:t>
            </a:r>
          </a:p>
        </p:txBody>
      </p:sp>
      <p:sp>
        <p:nvSpPr>
          <p:cNvPr name="TextBox 43" id="43"/>
          <p:cNvSpPr txBox="true"/>
          <p:nvPr/>
        </p:nvSpPr>
        <p:spPr>
          <a:xfrm rot="0">
            <a:off x="8403425" y="5379325"/>
            <a:ext cx="1787407" cy="507365"/>
          </a:xfrm>
          <a:prstGeom prst="rect">
            <a:avLst/>
          </a:prstGeom>
        </p:spPr>
        <p:txBody>
          <a:bodyPr anchor="t" rtlCol="false" tIns="0" lIns="0" bIns="0" rIns="0">
            <a:spAutoFit/>
          </a:bodyPr>
          <a:lstStyle/>
          <a:p>
            <a:pPr algn="ctr">
              <a:lnSpc>
                <a:spcPts val="1959"/>
              </a:lnSpc>
              <a:spcBef>
                <a:spcPct val="0"/>
              </a:spcBef>
            </a:pPr>
            <a:r>
              <a:rPr lang="en-US" b="true" sz="1399">
                <a:solidFill>
                  <a:srgbClr val="FFFFFF"/>
                </a:solidFill>
                <a:latin typeface="Poppins Bold"/>
                <a:ea typeface="Poppins Bold"/>
                <a:cs typeface="Poppins Bold"/>
                <a:sym typeface="Poppins Bold"/>
              </a:rPr>
              <a:t>5</a:t>
            </a:r>
            <a:r>
              <a:rPr lang="en-US" b="true" sz="1399">
                <a:solidFill>
                  <a:srgbClr val="FFFFFF"/>
                </a:solidFill>
                <a:latin typeface="Poppins Bold"/>
                <a:ea typeface="Poppins Bold"/>
                <a:cs typeface="Poppins Bold"/>
                <a:sym typeface="Poppins Bold"/>
              </a:rPr>
              <a:t>.2 Coding Backend</a:t>
            </a:r>
          </a:p>
        </p:txBody>
      </p:sp>
      <p:sp>
        <p:nvSpPr>
          <p:cNvPr name="TextBox 44" id="44"/>
          <p:cNvSpPr txBox="true"/>
          <p:nvPr/>
        </p:nvSpPr>
        <p:spPr>
          <a:xfrm rot="0">
            <a:off x="2298661" y="7442210"/>
            <a:ext cx="1735729" cy="507365"/>
          </a:xfrm>
          <a:prstGeom prst="rect">
            <a:avLst/>
          </a:prstGeom>
        </p:spPr>
        <p:txBody>
          <a:bodyPr anchor="t" rtlCol="false" tIns="0" lIns="0" bIns="0" rIns="0">
            <a:spAutoFit/>
          </a:bodyPr>
          <a:lstStyle/>
          <a:p>
            <a:pPr algn="ctr">
              <a:lnSpc>
                <a:spcPts val="1959"/>
              </a:lnSpc>
              <a:spcBef>
                <a:spcPct val="0"/>
              </a:spcBef>
            </a:pPr>
            <a:r>
              <a:rPr lang="en-US" b="true" sz="1399">
                <a:solidFill>
                  <a:srgbClr val="FFFFFF"/>
                </a:solidFill>
                <a:latin typeface="Poppins Bold"/>
                <a:ea typeface="Poppins Bold"/>
                <a:cs typeface="Poppins Bold"/>
                <a:sym typeface="Poppins Bold"/>
              </a:rPr>
              <a:t>2.4 Pembuatan RD dan BPMN</a:t>
            </a:r>
          </a:p>
        </p:txBody>
      </p:sp>
      <p:sp>
        <p:nvSpPr>
          <p:cNvPr name="TextBox 45" id="45"/>
          <p:cNvSpPr txBox="true"/>
          <p:nvPr/>
        </p:nvSpPr>
        <p:spPr>
          <a:xfrm rot="0">
            <a:off x="8359388" y="6214766"/>
            <a:ext cx="1959431" cy="507365"/>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Poppins Bold"/>
                <a:ea typeface="Poppins Bold"/>
                <a:cs typeface="Poppins Bold"/>
                <a:sym typeface="Poppins Bold"/>
              </a:rPr>
              <a:t>5</a:t>
            </a:r>
            <a:r>
              <a:rPr lang="en-US" b="true" sz="1400">
                <a:solidFill>
                  <a:srgbClr val="FFFFFF"/>
                </a:solidFill>
                <a:latin typeface="Poppins Bold"/>
                <a:ea typeface="Poppins Bold"/>
                <a:cs typeface="Poppins Bold"/>
                <a:sym typeface="Poppins Bold"/>
              </a:rPr>
              <a:t>.3 Implementasi Fitur</a:t>
            </a:r>
          </a:p>
        </p:txBody>
      </p:sp>
      <p:sp>
        <p:nvSpPr>
          <p:cNvPr name="TextBox 46" id="46"/>
          <p:cNvSpPr txBox="true"/>
          <p:nvPr/>
        </p:nvSpPr>
        <p:spPr>
          <a:xfrm rot="0">
            <a:off x="2285423" y="6605423"/>
            <a:ext cx="1748968" cy="507365"/>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Poppins Bold"/>
                <a:ea typeface="Poppins Bold"/>
                <a:cs typeface="Poppins Bold"/>
                <a:sym typeface="Poppins Bold"/>
              </a:rPr>
              <a:t>2.3 Analisis Kebutuhan Sistem</a:t>
            </a:r>
          </a:p>
        </p:txBody>
      </p:sp>
      <p:sp>
        <p:nvSpPr>
          <p:cNvPr name="TextBox 47" id="47"/>
          <p:cNvSpPr txBox="true"/>
          <p:nvPr/>
        </p:nvSpPr>
        <p:spPr>
          <a:xfrm rot="0">
            <a:off x="4327480" y="6867606"/>
            <a:ext cx="1701517" cy="259699"/>
          </a:xfrm>
          <a:prstGeom prst="rect">
            <a:avLst/>
          </a:prstGeom>
        </p:spPr>
        <p:txBody>
          <a:bodyPr anchor="t" rtlCol="false" tIns="0" lIns="0" bIns="0" rIns="0">
            <a:spAutoFit/>
          </a:bodyPr>
          <a:lstStyle/>
          <a:p>
            <a:pPr algn="ctr">
              <a:lnSpc>
                <a:spcPts val="1959"/>
              </a:lnSpc>
              <a:spcBef>
                <a:spcPct val="0"/>
              </a:spcBef>
            </a:pPr>
            <a:r>
              <a:rPr lang="en-US" b="true" sz="1399">
                <a:solidFill>
                  <a:srgbClr val="FFFFFF"/>
                </a:solidFill>
                <a:latin typeface="Poppins Bold"/>
                <a:ea typeface="Poppins Bold"/>
                <a:cs typeface="Poppins Bold"/>
                <a:sym typeface="Poppins Bold"/>
              </a:rPr>
              <a:t>3.3 Desain Review</a:t>
            </a:r>
          </a:p>
        </p:txBody>
      </p:sp>
      <p:sp>
        <p:nvSpPr>
          <p:cNvPr name="TextBox 48" id="48"/>
          <p:cNvSpPr txBox="true"/>
          <p:nvPr/>
        </p:nvSpPr>
        <p:spPr>
          <a:xfrm rot="0">
            <a:off x="4280698" y="4588364"/>
            <a:ext cx="1752504" cy="755015"/>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Poppins Bold"/>
                <a:ea typeface="Poppins Bold"/>
                <a:cs typeface="Poppins Bold"/>
                <a:sym typeface="Poppins Bold"/>
              </a:rPr>
              <a:t>3.1 Arsitektur Sistem dan Database</a:t>
            </a:r>
          </a:p>
        </p:txBody>
      </p:sp>
      <p:sp>
        <p:nvSpPr>
          <p:cNvPr name="TextBox 49" id="49"/>
          <p:cNvSpPr txBox="true"/>
          <p:nvPr/>
        </p:nvSpPr>
        <p:spPr>
          <a:xfrm rot="0">
            <a:off x="2357974" y="4572924"/>
            <a:ext cx="1578347" cy="507365"/>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Poppins Bold"/>
                <a:ea typeface="Poppins Bold"/>
                <a:cs typeface="Poppins Bold"/>
                <a:sym typeface="Poppins Bold"/>
              </a:rPr>
              <a:t>2.1 Wawancara Client</a:t>
            </a:r>
          </a:p>
        </p:txBody>
      </p:sp>
      <p:sp>
        <p:nvSpPr>
          <p:cNvPr name="TextBox 50" id="50"/>
          <p:cNvSpPr txBox="true"/>
          <p:nvPr/>
        </p:nvSpPr>
        <p:spPr>
          <a:xfrm rot="0">
            <a:off x="8394571" y="4521811"/>
            <a:ext cx="1759401" cy="507365"/>
          </a:xfrm>
          <a:prstGeom prst="rect">
            <a:avLst/>
          </a:prstGeom>
        </p:spPr>
        <p:txBody>
          <a:bodyPr anchor="t" rtlCol="false" tIns="0" lIns="0" bIns="0" rIns="0">
            <a:spAutoFit/>
          </a:bodyPr>
          <a:lstStyle/>
          <a:p>
            <a:pPr algn="ctr">
              <a:lnSpc>
                <a:spcPts val="1959"/>
              </a:lnSpc>
              <a:spcBef>
                <a:spcPct val="0"/>
              </a:spcBef>
            </a:pPr>
            <a:r>
              <a:rPr lang="en-US" b="true" sz="1399">
                <a:solidFill>
                  <a:srgbClr val="FFFFFF"/>
                </a:solidFill>
                <a:latin typeface="Poppins Bold"/>
                <a:ea typeface="Poppins Bold"/>
                <a:cs typeface="Poppins Bold"/>
                <a:sym typeface="Poppins Bold"/>
              </a:rPr>
              <a:t>5</a:t>
            </a:r>
            <a:r>
              <a:rPr lang="en-US" b="true" sz="1399">
                <a:solidFill>
                  <a:srgbClr val="FFFFFF"/>
                </a:solidFill>
                <a:latin typeface="Poppins Bold"/>
                <a:ea typeface="Poppins Bold"/>
                <a:cs typeface="Poppins Bold"/>
                <a:sym typeface="Poppins Bold"/>
              </a:rPr>
              <a:t>.1 Coding Frontend</a:t>
            </a:r>
          </a:p>
        </p:txBody>
      </p:sp>
      <p:sp>
        <p:nvSpPr>
          <p:cNvPr name="TextBox 51" id="51"/>
          <p:cNvSpPr txBox="true"/>
          <p:nvPr/>
        </p:nvSpPr>
        <p:spPr>
          <a:xfrm rot="0">
            <a:off x="2232428" y="3803469"/>
            <a:ext cx="1829440"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FFFFFF"/>
                </a:solidFill>
                <a:latin typeface="Poppins Bold"/>
                <a:ea typeface="Poppins Bold"/>
                <a:cs typeface="Poppins Bold"/>
                <a:sym typeface="Poppins Bold"/>
              </a:rPr>
              <a:t>2.Analisis </a:t>
            </a:r>
          </a:p>
        </p:txBody>
      </p:sp>
      <p:sp>
        <p:nvSpPr>
          <p:cNvPr name="TextBox 52" id="52"/>
          <p:cNvSpPr txBox="true"/>
          <p:nvPr/>
        </p:nvSpPr>
        <p:spPr>
          <a:xfrm rot="0">
            <a:off x="8453411" y="3830203"/>
            <a:ext cx="1704445"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FFFFFF"/>
                </a:solidFill>
                <a:latin typeface="Poppins Bold"/>
                <a:ea typeface="Poppins Bold"/>
                <a:cs typeface="Poppins Bold"/>
                <a:sym typeface="Poppins Bold"/>
              </a:rPr>
              <a:t>5. Development</a:t>
            </a:r>
          </a:p>
        </p:txBody>
      </p:sp>
      <p:sp>
        <p:nvSpPr>
          <p:cNvPr name="TextBox 53" id="53"/>
          <p:cNvSpPr txBox="true"/>
          <p:nvPr/>
        </p:nvSpPr>
        <p:spPr>
          <a:xfrm rot="0">
            <a:off x="4317015" y="3730632"/>
            <a:ext cx="1744762" cy="559435"/>
          </a:xfrm>
          <a:prstGeom prst="rect">
            <a:avLst/>
          </a:prstGeom>
        </p:spPr>
        <p:txBody>
          <a:bodyPr anchor="t" rtlCol="false" tIns="0" lIns="0" bIns="0" rIns="0">
            <a:spAutoFit/>
          </a:bodyPr>
          <a:lstStyle/>
          <a:p>
            <a:pPr algn="ctr">
              <a:lnSpc>
                <a:spcPts val="2239"/>
              </a:lnSpc>
              <a:spcBef>
                <a:spcPct val="0"/>
              </a:spcBef>
            </a:pPr>
            <a:r>
              <a:rPr lang="en-US" b="true" sz="1599">
                <a:solidFill>
                  <a:srgbClr val="FFFFFF"/>
                </a:solidFill>
                <a:latin typeface="Poppins Bold"/>
                <a:ea typeface="Poppins Bold"/>
                <a:cs typeface="Poppins Bold"/>
                <a:sym typeface="Poppins Bold"/>
              </a:rPr>
              <a:t>3. Perancangan Sistem</a:t>
            </a:r>
          </a:p>
        </p:txBody>
      </p:sp>
      <p:grpSp>
        <p:nvGrpSpPr>
          <p:cNvPr name="Group 54" id="54"/>
          <p:cNvGrpSpPr/>
          <p:nvPr/>
        </p:nvGrpSpPr>
        <p:grpSpPr>
          <a:xfrm rot="0">
            <a:off x="10398183" y="5418440"/>
            <a:ext cx="1812331" cy="554147"/>
            <a:chOff x="0" y="0"/>
            <a:chExt cx="2285967" cy="698968"/>
          </a:xfrm>
        </p:grpSpPr>
        <p:sp>
          <p:nvSpPr>
            <p:cNvPr name="Freeform 55" id="55"/>
            <p:cNvSpPr/>
            <p:nvPr/>
          </p:nvSpPr>
          <p:spPr>
            <a:xfrm flipH="false" flipV="false" rot="0">
              <a:off x="0" y="0"/>
              <a:ext cx="2285967" cy="698968"/>
            </a:xfrm>
            <a:custGeom>
              <a:avLst/>
              <a:gdLst/>
              <a:ahLst/>
              <a:cxnLst/>
              <a:rect r="r" b="b" t="t" l="l"/>
              <a:pathLst>
                <a:path h="698968" w="2285967">
                  <a:moveTo>
                    <a:pt x="2161507" y="698968"/>
                  </a:moveTo>
                  <a:lnTo>
                    <a:pt x="124460" y="698968"/>
                  </a:lnTo>
                  <a:cubicBezTo>
                    <a:pt x="55880" y="698968"/>
                    <a:pt x="0" y="643088"/>
                    <a:pt x="0" y="574508"/>
                  </a:cubicBezTo>
                  <a:lnTo>
                    <a:pt x="0" y="124460"/>
                  </a:lnTo>
                  <a:cubicBezTo>
                    <a:pt x="0" y="55880"/>
                    <a:pt x="55880" y="0"/>
                    <a:pt x="124460" y="0"/>
                  </a:cubicBezTo>
                  <a:lnTo>
                    <a:pt x="2161507" y="0"/>
                  </a:lnTo>
                  <a:cubicBezTo>
                    <a:pt x="2230087" y="0"/>
                    <a:pt x="2285967" y="55880"/>
                    <a:pt x="2285967" y="124460"/>
                  </a:cubicBezTo>
                  <a:lnTo>
                    <a:pt x="2285967" y="574508"/>
                  </a:lnTo>
                  <a:cubicBezTo>
                    <a:pt x="2285967" y="643088"/>
                    <a:pt x="2230087" y="698968"/>
                    <a:pt x="2161507" y="698968"/>
                  </a:cubicBezTo>
                  <a:close/>
                </a:path>
              </a:pathLst>
            </a:custGeom>
            <a:solidFill>
              <a:srgbClr val="3AA7FF"/>
            </a:solidFill>
          </p:spPr>
        </p:sp>
      </p:grpSp>
      <p:sp>
        <p:nvSpPr>
          <p:cNvPr name="AutoShape 56" id="56"/>
          <p:cNvSpPr/>
          <p:nvPr/>
        </p:nvSpPr>
        <p:spPr>
          <a:xfrm flipH="true" flipV="true">
            <a:off x="11332923" y="4244424"/>
            <a:ext cx="3242" cy="330321"/>
          </a:xfrm>
          <a:prstGeom prst="line">
            <a:avLst/>
          </a:prstGeom>
          <a:ln cap="rnd" w="19050">
            <a:solidFill>
              <a:srgbClr val="000000"/>
            </a:solidFill>
            <a:prstDash val="solid"/>
            <a:headEnd type="none" len="sm" w="sm"/>
            <a:tailEnd type="none" len="sm" w="sm"/>
          </a:ln>
        </p:spPr>
      </p:sp>
      <p:grpSp>
        <p:nvGrpSpPr>
          <p:cNvPr name="Group 57" id="57"/>
          <p:cNvGrpSpPr/>
          <p:nvPr/>
        </p:nvGrpSpPr>
        <p:grpSpPr>
          <a:xfrm rot="0">
            <a:off x="10426758" y="3734096"/>
            <a:ext cx="1812331" cy="529420"/>
            <a:chOff x="0" y="0"/>
            <a:chExt cx="2285967" cy="667780"/>
          </a:xfrm>
        </p:grpSpPr>
        <p:sp>
          <p:nvSpPr>
            <p:cNvPr name="Freeform 58" id="58"/>
            <p:cNvSpPr/>
            <p:nvPr/>
          </p:nvSpPr>
          <p:spPr>
            <a:xfrm flipH="false" flipV="false" rot="0">
              <a:off x="0" y="0"/>
              <a:ext cx="2285967" cy="667780"/>
            </a:xfrm>
            <a:custGeom>
              <a:avLst/>
              <a:gdLst/>
              <a:ahLst/>
              <a:cxnLst/>
              <a:rect r="r" b="b" t="t" l="l"/>
              <a:pathLst>
                <a:path h="667780" w="2285967">
                  <a:moveTo>
                    <a:pt x="2161507" y="667779"/>
                  </a:moveTo>
                  <a:lnTo>
                    <a:pt x="124460" y="667779"/>
                  </a:lnTo>
                  <a:cubicBezTo>
                    <a:pt x="55880" y="667779"/>
                    <a:pt x="0" y="611900"/>
                    <a:pt x="0" y="543319"/>
                  </a:cubicBezTo>
                  <a:lnTo>
                    <a:pt x="0" y="124460"/>
                  </a:lnTo>
                  <a:cubicBezTo>
                    <a:pt x="0" y="55880"/>
                    <a:pt x="55880" y="0"/>
                    <a:pt x="124460" y="0"/>
                  </a:cubicBezTo>
                  <a:lnTo>
                    <a:pt x="2161507" y="0"/>
                  </a:lnTo>
                  <a:cubicBezTo>
                    <a:pt x="2230087" y="0"/>
                    <a:pt x="2285967" y="55880"/>
                    <a:pt x="2285967" y="124460"/>
                  </a:cubicBezTo>
                  <a:lnTo>
                    <a:pt x="2285967" y="543320"/>
                  </a:lnTo>
                  <a:cubicBezTo>
                    <a:pt x="2285967" y="611900"/>
                    <a:pt x="2230087" y="667780"/>
                    <a:pt x="2161507" y="667780"/>
                  </a:cubicBezTo>
                  <a:close/>
                </a:path>
              </a:pathLst>
            </a:custGeom>
            <a:solidFill>
              <a:srgbClr val="E4760F"/>
            </a:solidFill>
          </p:spPr>
        </p:sp>
      </p:grpSp>
      <p:sp>
        <p:nvSpPr>
          <p:cNvPr name="AutoShape 59" id="59"/>
          <p:cNvSpPr/>
          <p:nvPr/>
        </p:nvSpPr>
        <p:spPr>
          <a:xfrm flipH="true" flipV="true">
            <a:off x="11331303" y="5090428"/>
            <a:ext cx="3242" cy="330321"/>
          </a:xfrm>
          <a:prstGeom prst="line">
            <a:avLst/>
          </a:prstGeom>
          <a:ln cap="rnd" w="19050">
            <a:solidFill>
              <a:srgbClr val="000000"/>
            </a:solidFill>
            <a:prstDash val="solid"/>
            <a:headEnd type="none" len="sm" w="sm"/>
            <a:tailEnd type="none" len="sm" w="sm"/>
          </a:ln>
        </p:spPr>
      </p:sp>
      <p:grpSp>
        <p:nvGrpSpPr>
          <p:cNvPr name="Group 60" id="60"/>
          <p:cNvGrpSpPr/>
          <p:nvPr/>
        </p:nvGrpSpPr>
        <p:grpSpPr>
          <a:xfrm rot="0">
            <a:off x="10377996" y="4569436"/>
            <a:ext cx="1812331" cy="531021"/>
            <a:chOff x="0" y="0"/>
            <a:chExt cx="2285967" cy="669799"/>
          </a:xfrm>
        </p:grpSpPr>
        <p:sp>
          <p:nvSpPr>
            <p:cNvPr name="Freeform 61" id="61"/>
            <p:cNvSpPr/>
            <p:nvPr/>
          </p:nvSpPr>
          <p:spPr>
            <a:xfrm flipH="false" flipV="false" rot="0">
              <a:off x="0" y="0"/>
              <a:ext cx="2285967" cy="669799"/>
            </a:xfrm>
            <a:custGeom>
              <a:avLst/>
              <a:gdLst/>
              <a:ahLst/>
              <a:cxnLst/>
              <a:rect r="r" b="b" t="t" l="l"/>
              <a:pathLst>
                <a:path h="669799" w="2285967">
                  <a:moveTo>
                    <a:pt x="2161507" y="669799"/>
                  </a:moveTo>
                  <a:lnTo>
                    <a:pt x="124460" y="669799"/>
                  </a:lnTo>
                  <a:cubicBezTo>
                    <a:pt x="55880" y="669799"/>
                    <a:pt x="0" y="613919"/>
                    <a:pt x="0" y="545339"/>
                  </a:cubicBezTo>
                  <a:lnTo>
                    <a:pt x="0" y="124460"/>
                  </a:lnTo>
                  <a:cubicBezTo>
                    <a:pt x="0" y="55880"/>
                    <a:pt x="55880" y="0"/>
                    <a:pt x="124460" y="0"/>
                  </a:cubicBezTo>
                  <a:lnTo>
                    <a:pt x="2161507" y="0"/>
                  </a:lnTo>
                  <a:cubicBezTo>
                    <a:pt x="2230087" y="0"/>
                    <a:pt x="2285967" y="55880"/>
                    <a:pt x="2285967" y="124460"/>
                  </a:cubicBezTo>
                  <a:lnTo>
                    <a:pt x="2285967" y="545339"/>
                  </a:lnTo>
                  <a:cubicBezTo>
                    <a:pt x="2285967" y="613919"/>
                    <a:pt x="2230087" y="669799"/>
                    <a:pt x="2161507" y="669799"/>
                  </a:cubicBezTo>
                  <a:close/>
                </a:path>
              </a:pathLst>
            </a:custGeom>
            <a:solidFill>
              <a:srgbClr val="3AA7FF"/>
            </a:solidFill>
          </p:spPr>
        </p:sp>
      </p:grpSp>
      <p:sp>
        <p:nvSpPr>
          <p:cNvPr name="TextBox 62" id="62"/>
          <p:cNvSpPr txBox="true"/>
          <p:nvPr/>
        </p:nvSpPr>
        <p:spPr>
          <a:xfrm rot="0">
            <a:off x="10612030" y="5543493"/>
            <a:ext cx="1424722"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Poppins Bold"/>
                <a:ea typeface="Poppins Bold"/>
                <a:cs typeface="Poppins Bold"/>
                <a:sym typeface="Poppins Bold"/>
              </a:rPr>
              <a:t>6</a:t>
            </a:r>
            <a:r>
              <a:rPr lang="en-US" b="true" sz="1400">
                <a:solidFill>
                  <a:srgbClr val="FFFFFF"/>
                </a:solidFill>
                <a:latin typeface="Poppins Bold"/>
                <a:ea typeface="Poppins Bold"/>
                <a:cs typeface="Poppins Bold"/>
                <a:sym typeface="Poppins Bold"/>
              </a:rPr>
              <a:t>.2 Bug Fixing</a:t>
            </a:r>
          </a:p>
        </p:txBody>
      </p:sp>
      <p:sp>
        <p:nvSpPr>
          <p:cNvPr name="TextBox 63" id="63"/>
          <p:cNvSpPr txBox="true"/>
          <p:nvPr/>
        </p:nvSpPr>
        <p:spPr>
          <a:xfrm rot="0">
            <a:off x="10457896" y="4564408"/>
            <a:ext cx="1708611" cy="507365"/>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Poppins Bold"/>
                <a:ea typeface="Poppins Bold"/>
                <a:cs typeface="Poppins Bold"/>
                <a:sym typeface="Poppins Bold"/>
              </a:rPr>
              <a:t>6</a:t>
            </a:r>
            <a:r>
              <a:rPr lang="en-US" b="true" sz="1400">
                <a:solidFill>
                  <a:srgbClr val="FFFFFF"/>
                </a:solidFill>
                <a:latin typeface="Poppins Bold"/>
                <a:ea typeface="Poppins Bold"/>
                <a:cs typeface="Poppins Bold"/>
                <a:sym typeface="Poppins Bold"/>
              </a:rPr>
              <a:t>.1 Testing dan Evaluasi</a:t>
            </a:r>
          </a:p>
        </p:txBody>
      </p:sp>
      <p:sp>
        <p:nvSpPr>
          <p:cNvPr name="TextBox 64" id="64"/>
          <p:cNvSpPr txBox="true"/>
          <p:nvPr/>
        </p:nvSpPr>
        <p:spPr>
          <a:xfrm rot="0">
            <a:off x="10620563" y="3827347"/>
            <a:ext cx="1424722"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FFFFFF"/>
                </a:solidFill>
                <a:latin typeface="Poppins Bold"/>
                <a:ea typeface="Poppins Bold"/>
                <a:cs typeface="Poppins Bold"/>
                <a:sym typeface="Poppins Bold"/>
              </a:rPr>
              <a:t>6. Testing</a:t>
            </a:r>
          </a:p>
        </p:txBody>
      </p:sp>
      <p:sp>
        <p:nvSpPr>
          <p:cNvPr name="AutoShape 65" id="65"/>
          <p:cNvSpPr/>
          <p:nvPr/>
        </p:nvSpPr>
        <p:spPr>
          <a:xfrm flipV="true">
            <a:off x="13334464" y="5160538"/>
            <a:ext cx="0" cy="425479"/>
          </a:xfrm>
          <a:prstGeom prst="line">
            <a:avLst/>
          </a:prstGeom>
          <a:ln cap="rnd" w="19050">
            <a:solidFill>
              <a:srgbClr val="000000"/>
            </a:solidFill>
            <a:prstDash val="solid"/>
            <a:headEnd type="none" len="sm" w="sm"/>
            <a:tailEnd type="none" len="sm" w="sm"/>
          </a:ln>
        </p:spPr>
      </p:sp>
      <p:grpSp>
        <p:nvGrpSpPr>
          <p:cNvPr name="Group 66" id="66"/>
          <p:cNvGrpSpPr/>
          <p:nvPr/>
        </p:nvGrpSpPr>
        <p:grpSpPr>
          <a:xfrm rot="0">
            <a:off x="12410539" y="5439439"/>
            <a:ext cx="1825891" cy="533148"/>
            <a:chOff x="0" y="0"/>
            <a:chExt cx="2303071" cy="672481"/>
          </a:xfrm>
        </p:grpSpPr>
        <p:sp>
          <p:nvSpPr>
            <p:cNvPr name="Freeform 67" id="67"/>
            <p:cNvSpPr/>
            <p:nvPr/>
          </p:nvSpPr>
          <p:spPr>
            <a:xfrm flipH="false" flipV="false" rot="0">
              <a:off x="0" y="0"/>
              <a:ext cx="2303071" cy="672481"/>
            </a:xfrm>
            <a:custGeom>
              <a:avLst/>
              <a:gdLst/>
              <a:ahLst/>
              <a:cxnLst/>
              <a:rect r="r" b="b" t="t" l="l"/>
              <a:pathLst>
                <a:path h="672481" w="2303071">
                  <a:moveTo>
                    <a:pt x="2178611" y="672481"/>
                  </a:moveTo>
                  <a:lnTo>
                    <a:pt x="124460" y="672481"/>
                  </a:lnTo>
                  <a:cubicBezTo>
                    <a:pt x="55880" y="672481"/>
                    <a:pt x="0" y="616601"/>
                    <a:pt x="0" y="548021"/>
                  </a:cubicBezTo>
                  <a:lnTo>
                    <a:pt x="0" y="124460"/>
                  </a:lnTo>
                  <a:cubicBezTo>
                    <a:pt x="0" y="55880"/>
                    <a:pt x="55880" y="0"/>
                    <a:pt x="124460" y="0"/>
                  </a:cubicBezTo>
                  <a:lnTo>
                    <a:pt x="2178611" y="0"/>
                  </a:lnTo>
                  <a:cubicBezTo>
                    <a:pt x="2247191" y="0"/>
                    <a:pt x="2303071" y="55880"/>
                    <a:pt x="2303071" y="124460"/>
                  </a:cubicBezTo>
                  <a:lnTo>
                    <a:pt x="2303071" y="548021"/>
                  </a:lnTo>
                  <a:cubicBezTo>
                    <a:pt x="2303071" y="616601"/>
                    <a:pt x="2247191" y="672481"/>
                    <a:pt x="2178611" y="672481"/>
                  </a:cubicBezTo>
                  <a:close/>
                </a:path>
              </a:pathLst>
            </a:custGeom>
            <a:solidFill>
              <a:srgbClr val="5EB58B"/>
            </a:solidFill>
          </p:spPr>
        </p:sp>
      </p:grpSp>
      <p:sp>
        <p:nvSpPr>
          <p:cNvPr name="AutoShape 68" id="68"/>
          <p:cNvSpPr/>
          <p:nvPr/>
        </p:nvSpPr>
        <p:spPr>
          <a:xfrm flipV="true">
            <a:off x="13342020" y="4208582"/>
            <a:ext cx="0" cy="425479"/>
          </a:xfrm>
          <a:prstGeom prst="line">
            <a:avLst/>
          </a:prstGeom>
          <a:ln cap="rnd" w="19050">
            <a:solidFill>
              <a:srgbClr val="000000"/>
            </a:solidFill>
            <a:prstDash val="solid"/>
            <a:headEnd type="none" len="sm" w="sm"/>
            <a:tailEnd type="none" len="sm" w="sm"/>
          </a:ln>
        </p:spPr>
      </p:sp>
      <p:grpSp>
        <p:nvGrpSpPr>
          <p:cNvPr name="Group 69" id="69"/>
          <p:cNvGrpSpPr/>
          <p:nvPr/>
        </p:nvGrpSpPr>
        <p:grpSpPr>
          <a:xfrm rot="0">
            <a:off x="12424099" y="3720855"/>
            <a:ext cx="1812331" cy="523570"/>
            <a:chOff x="0" y="0"/>
            <a:chExt cx="2285967" cy="660400"/>
          </a:xfrm>
        </p:grpSpPr>
        <p:sp>
          <p:nvSpPr>
            <p:cNvPr name="Freeform 70" id="70"/>
            <p:cNvSpPr/>
            <p:nvPr/>
          </p:nvSpPr>
          <p:spPr>
            <a:xfrm flipH="false" flipV="false" rot="0">
              <a:off x="0" y="0"/>
              <a:ext cx="2285967" cy="660400"/>
            </a:xfrm>
            <a:custGeom>
              <a:avLst/>
              <a:gdLst/>
              <a:ahLst/>
              <a:cxnLst/>
              <a:rect r="r" b="b" t="t" l="l"/>
              <a:pathLst>
                <a:path h="660400" w="2285967">
                  <a:moveTo>
                    <a:pt x="2161507" y="660400"/>
                  </a:moveTo>
                  <a:lnTo>
                    <a:pt x="124460" y="660400"/>
                  </a:lnTo>
                  <a:cubicBezTo>
                    <a:pt x="55880" y="660400"/>
                    <a:pt x="0" y="604520"/>
                    <a:pt x="0" y="535940"/>
                  </a:cubicBezTo>
                  <a:lnTo>
                    <a:pt x="0" y="124460"/>
                  </a:lnTo>
                  <a:cubicBezTo>
                    <a:pt x="0" y="55880"/>
                    <a:pt x="55880" y="0"/>
                    <a:pt x="124460" y="0"/>
                  </a:cubicBezTo>
                  <a:lnTo>
                    <a:pt x="2161507" y="0"/>
                  </a:lnTo>
                  <a:cubicBezTo>
                    <a:pt x="2230087" y="0"/>
                    <a:pt x="2285967" y="55880"/>
                    <a:pt x="2285967" y="124460"/>
                  </a:cubicBezTo>
                  <a:lnTo>
                    <a:pt x="2285967" y="535940"/>
                  </a:lnTo>
                  <a:cubicBezTo>
                    <a:pt x="2285967" y="604520"/>
                    <a:pt x="2230087" y="660400"/>
                    <a:pt x="2161507" y="660400"/>
                  </a:cubicBezTo>
                  <a:close/>
                </a:path>
              </a:pathLst>
            </a:custGeom>
            <a:solidFill>
              <a:srgbClr val="E4760F"/>
            </a:solidFill>
          </p:spPr>
        </p:sp>
      </p:grpSp>
      <p:sp>
        <p:nvSpPr>
          <p:cNvPr name="TextBox 71" id="71"/>
          <p:cNvSpPr txBox="true"/>
          <p:nvPr/>
        </p:nvSpPr>
        <p:spPr>
          <a:xfrm rot="0">
            <a:off x="12472031" y="5538391"/>
            <a:ext cx="1705030"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Poppins Bold"/>
                <a:ea typeface="Poppins Bold"/>
                <a:cs typeface="Poppins Bold"/>
                <a:sym typeface="Poppins Bold"/>
              </a:rPr>
              <a:t>7</a:t>
            </a:r>
            <a:r>
              <a:rPr lang="en-US" b="true" sz="1400">
                <a:solidFill>
                  <a:srgbClr val="FFFFFF"/>
                </a:solidFill>
                <a:latin typeface="Poppins Bold"/>
                <a:ea typeface="Poppins Bold"/>
                <a:cs typeface="Poppins Bold"/>
                <a:sym typeface="Poppins Bold"/>
              </a:rPr>
              <a:t>.2 Uji Coba Online</a:t>
            </a:r>
          </a:p>
        </p:txBody>
      </p:sp>
      <p:sp>
        <p:nvSpPr>
          <p:cNvPr name="TextBox 72" id="72"/>
          <p:cNvSpPr txBox="true"/>
          <p:nvPr/>
        </p:nvSpPr>
        <p:spPr>
          <a:xfrm rot="0">
            <a:off x="12494923" y="3819645"/>
            <a:ext cx="1715989"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FFFFFF"/>
                </a:solidFill>
                <a:latin typeface="Poppins Bold"/>
                <a:ea typeface="Poppins Bold"/>
                <a:cs typeface="Poppins Bold"/>
                <a:sym typeface="Poppins Bold"/>
              </a:rPr>
              <a:t>7.Implementasi </a:t>
            </a:r>
          </a:p>
        </p:txBody>
      </p:sp>
      <p:sp>
        <p:nvSpPr>
          <p:cNvPr name="AutoShape 73" id="73"/>
          <p:cNvSpPr/>
          <p:nvPr/>
        </p:nvSpPr>
        <p:spPr>
          <a:xfrm flipV="true">
            <a:off x="15333422" y="5990941"/>
            <a:ext cx="3285" cy="433115"/>
          </a:xfrm>
          <a:prstGeom prst="line">
            <a:avLst/>
          </a:prstGeom>
          <a:ln cap="rnd" w="19050">
            <a:solidFill>
              <a:srgbClr val="000000"/>
            </a:solidFill>
            <a:prstDash val="solid"/>
            <a:headEnd type="none" len="sm" w="sm"/>
            <a:tailEnd type="none" len="sm" w="sm"/>
          </a:ln>
        </p:spPr>
      </p:sp>
      <p:sp>
        <p:nvSpPr>
          <p:cNvPr name="AutoShape 74" id="74"/>
          <p:cNvSpPr/>
          <p:nvPr/>
        </p:nvSpPr>
        <p:spPr>
          <a:xfrm flipH="true" flipV="true">
            <a:off x="15345451" y="5170925"/>
            <a:ext cx="781" cy="312089"/>
          </a:xfrm>
          <a:prstGeom prst="line">
            <a:avLst/>
          </a:prstGeom>
          <a:ln cap="rnd" w="19050">
            <a:solidFill>
              <a:srgbClr val="000000"/>
            </a:solidFill>
            <a:prstDash val="solid"/>
            <a:headEnd type="none" len="sm" w="sm"/>
            <a:tailEnd type="none" len="sm" w="sm"/>
          </a:ln>
        </p:spPr>
      </p:sp>
      <p:grpSp>
        <p:nvGrpSpPr>
          <p:cNvPr name="Group 75" id="75"/>
          <p:cNvGrpSpPr/>
          <p:nvPr/>
        </p:nvGrpSpPr>
        <p:grpSpPr>
          <a:xfrm rot="0">
            <a:off x="14400610" y="5483015"/>
            <a:ext cx="1807788" cy="603449"/>
            <a:chOff x="0" y="0"/>
            <a:chExt cx="2280236" cy="761155"/>
          </a:xfrm>
        </p:grpSpPr>
        <p:sp>
          <p:nvSpPr>
            <p:cNvPr name="Freeform 76" id="76"/>
            <p:cNvSpPr/>
            <p:nvPr/>
          </p:nvSpPr>
          <p:spPr>
            <a:xfrm flipH="false" flipV="false" rot="0">
              <a:off x="0" y="0"/>
              <a:ext cx="2280237" cy="761155"/>
            </a:xfrm>
            <a:custGeom>
              <a:avLst/>
              <a:gdLst/>
              <a:ahLst/>
              <a:cxnLst/>
              <a:rect r="r" b="b" t="t" l="l"/>
              <a:pathLst>
                <a:path h="761155" w="2280237">
                  <a:moveTo>
                    <a:pt x="2155776" y="761155"/>
                  </a:moveTo>
                  <a:lnTo>
                    <a:pt x="124460" y="761155"/>
                  </a:lnTo>
                  <a:cubicBezTo>
                    <a:pt x="55880" y="761155"/>
                    <a:pt x="0" y="705275"/>
                    <a:pt x="0" y="636695"/>
                  </a:cubicBezTo>
                  <a:lnTo>
                    <a:pt x="0" y="124460"/>
                  </a:lnTo>
                  <a:cubicBezTo>
                    <a:pt x="0" y="55880"/>
                    <a:pt x="55880" y="0"/>
                    <a:pt x="124460" y="0"/>
                  </a:cubicBezTo>
                  <a:lnTo>
                    <a:pt x="2155777" y="0"/>
                  </a:lnTo>
                  <a:cubicBezTo>
                    <a:pt x="2224356" y="0"/>
                    <a:pt x="2280237" y="55880"/>
                    <a:pt x="2280237" y="124460"/>
                  </a:cubicBezTo>
                  <a:lnTo>
                    <a:pt x="2280237" y="636695"/>
                  </a:lnTo>
                  <a:cubicBezTo>
                    <a:pt x="2280237" y="705275"/>
                    <a:pt x="2224356" y="761155"/>
                    <a:pt x="2155777" y="761155"/>
                  </a:cubicBezTo>
                  <a:close/>
                </a:path>
              </a:pathLst>
            </a:custGeom>
            <a:solidFill>
              <a:srgbClr val="FFA800"/>
            </a:solidFill>
          </p:spPr>
        </p:sp>
      </p:grpSp>
      <p:grpSp>
        <p:nvGrpSpPr>
          <p:cNvPr name="Group 77" id="77"/>
          <p:cNvGrpSpPr/>
          <p:nvPr/>
        </p:nvGrpSpPr>
        <p:grpSpPr>
          <a:xfrm rot="0">
            <a:off x="14400610" y="6424055"/>
            <a:ext cx="1812331" cy="575356"/>
            <a:chOff x="0" y="0"/>
            <a:chExt cx="2285967" cy="725721"/>
          </a:xfrm>
        </p:grpSpPr>
        <p:sp>
          <p:nvSpPr>
            <p:cNvPr name="Freeform 78" id="78"/>
            <p:cNvSpPr/>
            <p:nvPr/>
          </p:nvSpPr>
          <p:spPr>
            <a:xfrm flipH="false" flipV="false" rot="0">
              <a:off x="0" y="0"/>
              <a:ext cx="2285967" cy="725721"/>
            </a:xfrm>
            <a:custGeom>
              <a:avLst/>
              <a:gdLst/>
              <a:ahLst/>
              <a:cxnLst/>
              <a:rect r="r" b="b" t="t" l="l"/>
              <a:pathLst>
                <a:path h="725721" w="2285967">
                  <a:moveTo>
                    <a:pt x="2161507" y="725721"/>
                  </a:moveTo>
                  <a:lnTo>
                    <a:pt x="124460" y="725721"/>
                  </a:lnTo>
                  <a:cubicBezTo>
                    <a:pt x="55880" y="725721"/>
                    <a:pt x="0" y="669841"/>
                    <a:pt x="0" y="601260"/>
                  </a:cubicBezTo>
                  <a:lnTo>
                    <a:pt x="0" y="124460"/>
                  </a:lnTo>
                  <a:cubicBezTo>
                    <a:pt x="0" y="55880"/>
                    <a:pt x="55880" y="0"/>
                    <a:pt x="124460" y="0"/>
                  </a:cubicBezTo>
                  <a:lnTo>
                    <a:pt x="2161507" y="0"/>
                  </a:lnTo>
                  <a:cubicBezTo>
                    <a:pt x="2230087" y="0"/>
                    <a:pt x="2285967" y="55880"/>
                    <a:pt x="2285967" y="124460"/>
                  </a:cubicBezTo>
                  <a:lnTo>
                    <a:pt x="2285967" y="601261"/>
                  </a:lnTo>
                  <a:cubicBezTo>
                    <a:pt x="2285967" y="669841"/>
                    <a:pt x="2230087" y="725721"/>
                    <a:pt x="2161507" y="725721"/>
                  </a:cubicBezTo>
                  <a:close/>
                </a:path>
              </a:pathLst>
            </a:custGeom>
            <a:solidFill>
              <a:srgbClr val="FFA800"/>
            </a:solidFill>
          </p:spPr>
        </p:sp>
      </p:grpSp>
      <p:grpSp>
        <p:nvGrpSpPr>
          <p:cNvPr name="Group 79" id="79"/>
          <p:cNvGrpSpPr/>
          <p:nvPr/>
        </p:nvGrpSpPr>
        <p:grpSpPr>
          <a:xfrm rot="0">
            <a:off x="14400610" y="4688562"/>
            <a:ext cx="1812331" cy="523570"/>
            <a:chOff x="0" y="0"/>
            <a:chExt cx="2285967" cy="660400"/>
          </a:xfrm>
        </p:grpSpPr>
        <p:sp>
          <p:nvSpPr>
            <p:cNvPr name="Freeform 80" id="80"/>
            <p:cNvSpPr/>
            <p:nvPr/>
          </p:nvSpPr>
          <p:spPr>
            <a:xfrm flipH="false" flipV="false" rot="0">
              <a:off x="0" y="0"/>
              <a:ext cx="2285967" cy="660400"/>
            </a:xfrm>
            <a:custGeom>
              <a:avLst/>
              <a:gdLst/>
              <a:ahLst/>
              <a:cxnLst/>
              <a:rect r="r" b="b" t="t" l="l"/>
              <a:pathLst>
                <a:path h="660400" w="2285967">
                  <a:moveTo>
                    <a:pt x="2161507" y="660400"/>
                  </a:moveTo>
                  <a:lnTo>
                    <a:pt x="124460" y="660400"/>
                  </a:lnTo>
                  <a:cubicBezTo>
                    <a:pt x="55880" y="660400"/>
                    <a:pt x="0" y="604520"/>
                    <a:pt x="0" y="535940"/>
                  </a:cubicBezTo>
                  <a:lnTo>
                    <a:pt x="0" y="124460"/>
                  </a:lnTo>
                  <a:cubicBezTo>
                    <a:pt x="0" y="55880"/>
                    <a:pt x="55880" y="0"/>
                    <a:pt x="124460" y="0"/>
                  </a:cubicBezTo>
                  <a:lnTo>
                    <a:pt x="2161507" y="0"/>
                  </a:lnTo>
                  <a:cubicBezTo>
                    <a:pt x="2230087" y="0"/>
                    <a:pt x="2285967" y="55880"/>
                    <a:pt x="2285967" y="124460"/>
                  </a:cubicBezTo>
                  <a:lnTo>
                    <a:pt x="2285967" y="535940"/>
                  </a:lnTo>
                  <a:cubicBezTo>
                    <a:pt x="2285967" y="604520"/>
                    <a:pt x="2230087" y="660400"/>
                    <a:pt x="2161507" y="660400"/>
                  </a:cubicBezTo>
                  <a:close/>
                </a:path>
              </a:pathLst>
            </a:custGeom>
            <a:solidFill>
              <a:srgbClr val="FFA800"/>
            </a:solidFill>
          </p:spPr>
        </p:sp>
      </p:grpSp>
      <p:sp>
        <p:nvSpPr>
          <p:cNvPr name="AutoShape 81" id="81"/>
          <p:cNvSpPr/>
          <p:nvPr/>
        </p:nvSpPr>
        <p:spPr>
          <a:xfrm flipH="true" flipV="true">
            <a:off x="15345841" y="4376473"/>
            <a:ext cx="781" cy="312089"/>
          </a:xfrm>
          <a:prstGeom prst="line">
            <a:avLst/>
          </a:prstGeom>
          <a:ln cap="rnd" w="19050">
            <a:solidFill>
              <a:srgbClr val="000000"/>
            </a:solidFill>
            <a:prstDash val="solid"/>
            <a:headEnd type="none" len="sm" w="sm"/>
            <a:tailEnd type="none" len="sm" w="sm"/>
          </a:ln>
        </p:spPr>
      </p:sp>
      <p:sp>
        <p:nvSpPr>
          <p:cNvPr name="TextBox 82" id="82"/>
          <p:cNvSpPr txBox="true"/>
          <p:nvPr/>
        </p:nvSpPr>
        <p:spPr>
          <a:xfrm rot="0">
            <a:off x="14582631" y="5498934"/>
            <a:ext cx="1476224" cy="507365"/>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Poppins Bold"/>
                <a:ea typeface="Poppins Bold"/>
                <a:cs typeface="Poppins Bold"/>
                <a:sym typeface="Poppins Bold"/>
              </a:rPr>
              <a:t>8</a:t>
            </a:r>
            <a:r>
              <a:rPr lang="en-US" b="true" sz="1400">
                <a:solidFill>
                  <a:srgbClr val="FFFFFF"/>
                </a:solidFill>
                <a:latin typeface="Poppins Bold"/>
                <a:ea typeface="Poppins Bold"/>
                <a:cs typeface="Poppins Bold"/>
                <a:sym typeface="Poppins Bold"/>
              </a:rPr>
              <a:t>.2 Penyerahan Guidebook</a:t>
            </a:r>
          </a:p>
        </p:txBody>
      </p:sp>
      <p:sp>
        <p:nvSpPr>
          <p:cNvPr name="TextBox 83" id="83"/>
          <p:cNvSpPr txBox="true"/>
          <p:nvPr/>
        </p:nvSpPr>
        <p:spPr>
          <a:xfrm rot="0">
            <a:off x="14510697" y="6446082"/>
            <a:ext cx="1645450" cy="755015"/>
          </a:xfrm>
          <a:prstGeom prst="rect">
            <a:avLst/>
          </a:prstGeom>
        </p:spPr>
        <p:txBody>
          <a:bodyPr anchor="t" rtlCol="false" tIns="0" lIns="0" bIns="0" rIns="0">
            <a:spAutoFit/>
          </a:bodyPr>
          <a:lstStyle/>
          <a:p>
            <a:pPr algn="ctr">
              <a:lnSpc>
                <a:spcPts val="1960"/>
              </a:lnSpc>
            </a:pPr>
            <a:r>
              <a:rPr lang="en-US" sz="1400" b="true">
                <a:solidFill>
                  <a:srgbClr val="FFFFFF"/>
                </a:solidFill>
                <a:latin typeface="Poppins Bold"/>
                <a:ea typeface="Poppins Bold"/>
                <a:cs typeface="Poppins Bold"/>
                <a:sym typeface="Poppins Bold"/>
              </a:rPr>
              <a:t>8</a:t>
            </a:r>
            <a:r>
              <a:rPr lang="en-US" b="true" sz="1400">
                <a:solidFill>
                  <a:srgbClr val="FFFFFF"/>
                </a:solidFill>
                <a:latin typeface="Poppins Bold"/>
                <a:ea typeface="Poppins Bold"/>
                <a:cs typeface="Poppins Bold"/>
                <a:sym typeface="Poppins Bold"/>
              </a:rPr>
              <a:t>.3 Penyerahan Dokumentasi</a:t>
            </a:r>
          </a:p>
          <a:p>
            <a:pPr algn="ctr">
              <a:lnSpc>
                <a:spcPts val="1960"/>
              </a:lnSpc>
              <a:spcBef>
                <a:spcPct val="0"/>
              </a:spcBef>
            </a:pPr>
          </a:p>
        </p:txBody>
      </p:sp>
      <p:sp>
        <p:nvSpPr>
          <p:cNvPr name="TextBox 84" id="84"/>
          <p:cNvSpPr txBox="true"/>
          <p:nvPr/>
        </p:nvSpPr>
        <p:spPr>
          <a:xfrm rot="0">
            <a:off x="14482465" y="4800041"/>
            <a:ext cx="1633326"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Poppins Bold"/>
                <a:ea typeface="Poppins Bold"/>
                <a:cs typeface="Poppins Bold"/>
                <a:sym typeface="Poppins Bold"/>
              </a:rPr>
              <a:t>8</a:t>
            </a:r>
            <a:r>
              <a:rPr lang="en-US" b="true" sz="1400">
                <a:solidFill>
                  <a:srgbClr val="FFFFFF"/>
                </a:solidFill>
                <a:latin typeface="Poppins Bold"/>
                <a:ea typeface="Poppins Bold"/>
                <a:cs typeface="Poppins Bold"/>
                <a:sym typeface="Poppins Bold"/>
              </a:rPr>
              <a:t>.1 Pelatihan Web</a:t>
            </a:r>
          </a:p>
        </p:txBody>
      </p:sp>
      <p:grpSp>
        <p:nvGrpSpPr>
          <p:cNvPr name="Group 85" id="85"/>
          <p:cNvGrpSpPr/>
          <p:nvPr/>
        </p:nvGrpSpPr>
        <p:grpSpPr>
          <a:xfrm rot="0">
            <a:off x="14391891" y="3704123"/>
            <a:ext cx="1812331" cy="685519"/>
            <a:chOff x="0" y="0"/>
            <a:chExt cx="2285967" cy="864673"/>
          </a:xfrm>
        </p:grpSpPr>
        <p:sp>
          <p:nvSpPr>
            <p:cNvPr name="Freeform 86" id="86"/>
            <p:cNvSpPr/>
            <p:nvPr/>
          </p:nvSpPr>
          <p:spPr>
            <a:xfrm flipH="false" flipV="false" rot="0">
              <a:off x="0" y="0"/>
              <a:ext cx="2285967" cy="864673"/>
            </a:xfrm>
            <a:custGeom>
              <a:avLst/>
              <a:gdLst/>
              <a:ahLst/>
              <a:cxnLst/>
              <a:rect r="r" b="b" t="t" l="l"/>
              <a:pathLst>
                <a:path h="864673" w="2285967">
                  <a:moveTo>
                    <a:pt x="2161507" y="864673"/>
                  </a:moveTo>
                  <a:lnTo>
                    <a:pt x="124460" y="864673"/>
                  </a:lnTo>
                  <a:cubicBezTo>
                    <a:pt x="55880" y="864673"/>
                    <a:pt x="0" y="808793"/>
                    <a:pt x="0" y="740213"/>
                  </a:cubicBezTo>
                  <a:lnTo>
                    <a:pt x="0" y="124460"/>
                  </a:lnTo>
                  <a:cubicBezTo>
                    <a:pt x="0" y="55880"/>
                    <a:pt x="55880" y="0"/>
                    <a:pt x="124460" y="0"/>
                  </a:cubicBezTo>
                  <a:lnTo>
                    <a:pt x="2161507" y="0"/>
                  </a:lnTo>
                  <a:cubicBezTo>
                    <a:pt x="2230087" y="0"/>
                    <a:pt x="2285967" y="55880"/>
                    <a:pt x="2285967" y="124460"/>
                  </a:cubicBezTo>
                  <a:lnTo>
                    <a:pt x="2285967" y="740213"/>
                  </a:lnTo>
                  <a:cubicBezTo>
                    <a:pt x="2285967" y="808793"/>
                    <a:pt x="2230087" y="864673"/>
                    <a:pt x="2161507" y="864673"/>
                  </a:cubicBezTo>
                  <a:close/>
                </a:path>
              </a:pathLst>
            </a:custGeom>
            <a:solidFill>
              <a:srgbClr val="E4760F"/>
            </a:solidFill>
          </p:spPr>
        </p:sp>
      </p:grpSp>
      <p:sp>
        <p:nvSpPr>
          <p:cNvPr name="TextBox 87" id="87"/>
          <p:cNvSpPr txBox="true"/>
          <p:nvPr/>
        </p:nvSpPr>
        <p:spPr>
          <a:xfrm rot="0">
            <a:off x="14438710" y="3734062"/>
            <a:ext cx="1757688" cy="559435"/>
          </a:xfrm>
          <a:prstGeom prst="rect">
            <a:avLst/>
          </a:prstGeom>
        </p:spPr>
        <p:txBody>
          <a:bodyPr anchor="t" rtlCol="false" tIns="0" lIns="0" bIns="0" rIns="0">
            <a:spAutoFit/>
          </a:bodyPr>
          <a:lstStyle/>
          <a:p>
            <a:pPr algn="ctr">
              <a:lnSpc>
                <a:spcPts val="2239"/>
              </a:lnSpc>
              <a:spcBef>
                <a:spcPct val="0"/>
              </a:spcBef>
            </a:pPr>
            <a:r>
              <a:rPr lang="en-US" b="true" sz="1599">
                <a:solidFill>
                  <a:srgbClr val="FFFFFF"/>
                </a:solidFill>
                <a:latin typeface="Poppins Bold"/>
                <a:ea typeface="Poppins Bold"/>
                <a:cs typeface="Poppins Bold"/>
                <a:sym typeface="Poppins Bold"/>
              </a:rPr>
              <a:t>8. Pelatihan dan Dokumentasi</a:t>
            </a:r>
          </a:p>
        </p:txBody>
      </p:sp>
      <p:grpSp>
        <p:nvGrpSpPr>
          <p:cNvPr name="Group 88" id="88"/>
          <p:cNvGrpSpPr/>
          <p:nvPr/>
        </p:nvGrpSpPr>
        <p:grpSpPr>
          <a:xfrm rot="0">
            <a:off x="211081" y="3703867"/>
            <a:ext cx="1835341" cy="530217"/>
            <a:chOff x="0" y="0"/>
            <a:chExt cx="2285967" cy="660400"/>
          </a:xfrm>
        </p:grpSpPr>
        <p:sp>
          <p:nvSpPr>
            <p:cNvPr name="Freeform 89" id="89"/>
            <p:cNvSpPr/>
            <p:nvPr/>
          </p:nvSpPr>
          <p:spPr>
            <a:xfrm flipH="false" flipV="false" rot="0">
              <a:off x="0" y="0"/>
              <a:ext cx="2285967" cy="660400"/>
            </a:xfrm>
            <a:custGeom>
              <a:avLst/>
              <a:gdLst/>
              <a:ahLst/>
              <a:cxnLst/>
              <a:rect r="r" b="b" t="t" l="l"/>
              <a:pathLst>
                <a:path h="660400" w="2285967">
                  <a:moveTo>
                    <a:pt x="2161507" y="660400"/>
                  </a:moveTo>
                  <a:lnTo>
                    <a:pt x="124460" y="660400"/>
                  </a:lnTo>
                  <a:cubicBezTo>
                    <a:pt x="55880" y="660400"/>
                    <a:pt x="0" y="604520"/>
                    <a:pt x="0" y="535940"/>
                  </a:cubicBezTo>
                  <a:lnTo>
                    <a:pt x="0" y="124460"/>
                  </a:lnTo>
                  <a:cubicBezTo>
                    <a:pt x="0" y="55880"/>
                    <a:pt x="55880" y="0"/>
                    <a:pt x="124460" y="0"/>
                  </a:cubicBezTo>
                  <a:lnTo>
                    <a:pt x="2161507" y="0"/>
                  </a:lnTo>
                  <a:cubicBezTo>
                    <a:pt x="2230087" y="0"/>
                    <a:pt x="2285967" y="55880"/>
                    <a:pt x="2285967" y="124460"/>
                  </a:cubicBezTo>
                  <a:lnTo>
                    <a:pt x="2285967" y="535940"/>
                  </a:lnTo>
                  <a:cubicBezTo>
                    <a:pt x="2285967" y="604520"/>
                    <a:pt x="2230087" y="660400"/>
                    <a:pt x="2161507" y="660400"/>
                  </a:cubicBezTo>
                  <a:close/>
                </a:path>
              </a:pathLst>
            </a:custGeom>
            <a:solidFill>
              <a:srgbClr val="E4760F"/>
            </a:solidFill>
          </p:spPr>
        </p:sp>
      </p:grpSp>
      <p:grpSp>
        <p:nvGrpSpPr>
          <p:cNvPr name="Group 90" id="90"/>
          <p:cNvGrpSpPr/>
          <p:nvPr/>
        </p:nvGrpSpPr>
        <p:grpSpPr>
          <a:xfrm rot="0">
            <a:off x="211081" y="4550167"/>
            <a:ext cx="1835341" cy="583471"/>
            <a:chOff x="0" y="0"/>
            <a:chExt cx="2285967" cy="726729"/>
          </a:xfrm>
        </p:grpSpPr>
        <p:sp>
          <p:nvSpPr>
            <p:cNvPr name="Freeform 91" id="91"/>
            <p:cNvSpPr/>
            <p:nvPr/>
          </p:nvSpPr>
          <p:spPr>
            <a:xfrm flipH="false" flipV="false" rot="0">
              <a:off x="0" y="0"/>
              <a:ext cx="2285967" cy="726729"/>
            </a:xfrm>
            <a:custGeom>
              <a:avLst/>
              <a:gdLst/>
              <a:ahLst/>
              <a:cxnLst/>
              <a:rect r="r" b="b" t="t" l="l"/>
              <a:pathLst>
                <a:path h="726729" w="2285967">
                  <a:moveTo>
                    <a:pt x="2161507" y="726729"/>
                  </a:moveTo>
                  <a:lnTo>
                    <a:pt x="124460" y="726729"/>
                  </a:lnTo>
                  <a:cubicBezTo>
                    <a:pt x="55880" y="726729"/>
                    <a:pt x="0" y="670849"/>
                    <a:pt x="0" y="602269"/>
                  </a:cubicBezTo>
                  <a:lnTo>
                    <a:pt x="0" y="124460"/>
                  </a:lnTo>
                  <a:cubicBezTo>
                    <a:pt x="0" y="55880"/>
                    <a:pt x="55880" y="0"/>
                    <a:pt x="124460" y="0"/>
                  </a:cubicBezTo>
                  <a:lnTo>
                    <a:pt x="2161507" y="0"/>
                  </a:lnTo>
                  <a:cubicBezTo>
                    <a:pt x="2230087" y="0"/>
                    <a:pt x="2285967" y="55880"/>
                    <a:pt x="2285967" y="124460"/>
                  </a:cubicBezTo>
                  <a:lnTo>
                    <a:pt x="2285967" y="602269"/>
                  </a:lnTo>
                  <a:cubicBezTo>
                    <a:pt x="2285967" y="670849"/>
                    <a:pt x="2230087" y="726729"/>
                    <a:pt x="2161507" y="726729"/>
                  </a:cubicBezTo>
                  <a:close/>
                </a:path>
              </a:pathLst>
            </a:custGeom>
            <a:solidFill>
              <a:srgbClr val="5C94C1"/>
            </a:solidFill>
          </p:spPr>
        </p:sp>
      </p:grpSp>
      <p:sp>
        <p:nvSpPr>
          <p:cNvPr name="AutoShape 92" id="92"/>
          <p:cNvSpPr/>
          <p:nvPr/>
        </p:nvSpPr>
        <p:spPr>
          <a:xfrm flipH="true" flipV="true">
            <a:off x="1115105" y="4234100"/>
            <a:ext cx="791" cy="316052"/>
          </a:xfrm>
          <a:prstGeom prst="line">
            <a:avLst/>
          </a:prstGeom>
          <a:ln cap="rnd" w="19050">
            <a:solidFill>
              <a:srgbClr val="000000"/>
            </a:solidFill>
            <a:prstDash val="solid"/>
            <a:headEnd type="none" len="sm" w="sm"/>
            <a:tailEnd type="none" len="sm" w="sm"/>
          </a:ln>
        </p:spPr>
      </p:sp>
      <p:sp>
        <p:nvSpPr>
          <p:cNvPr name="AutoShape 93" id="93"/>
          <p:cNvSpPr/>
          <p:nvPr/>
        </p:nvSpPr>
        <p:spPr>
          <a:xfrm flipH="true" flipV="true">
            <a:off x="1123631" y="2995474"/>
            <a:ext cx="0" cy="708649"/>
          </a:xfrm>
          <a:prstGeom prst="line">
            <a:avLst/>
          </a:prstGeom>
          <a:ln cap="rnd" w="19050">
            <a:solidFill>
              <a:srgbClr val="000000"/>
            </a:solidFill>
            <a:prstDash val="solid"/>
            <a:headEnd type="none" len="sm" w="sm"/>
            <a:tailEnd type="none" len="sm" w="sm"/>
          </a:ln>
        </p:spPr>
      </p:sp>
      <p:sp>
        <p:nvSpPr>
          <p:cNvPr name="TextBox 94" id="94"/>
          <p:cNvSpPr txBox="true"/>
          <p:nvPr/>
        </p:nvSpPr>
        <p:spPr>
          <a:xfrm rot="0">
            <a:off x="219354" y="3803647"/>
            <a:ext cx="1827068" cy="283031"/>
          </a:xfrm>
          <a:prstGeom prst="rect">
            <a:avLst/>
          </a:prstGeom>
        </p:spPr>
        <p:txBody>
          <a:bodyPr anchor="t" rtlCol="false" tIns="0" lIns="0" bIns="0" rIns="0">
            <a:spAutoFit/>
          </a:bodyPr>
          <a:lstStyle/>
          <a:p>
            <a:pPr algn="ctr">
              <a:lnSpc>
                <a:spcPts val="2249"/>
              </a:lnSpc>
            </a:pPr>
            <a:r>
              <a:rPr lang="en-US" b="true" sz="1607">
                <a:solidFill>
                  <a:srgbClr val="FFFFFF"/>
                </a:solidFill>
                <a:latin typeface="Poppins Bold"/>
                <a:ea typeface="Poppins Bold"/>
                <a:cs typeface="Poppins Bold"/>
                <a:sym typeface="Poppins Bold"/>
              </a:rPr>
              <a:t>1.Perencanaan</a:t>
            </a:r>
          </a:p>
        </p:txBody>
      </p:sp>
      <p:sp>
        <p:nvSpPr>
          <p:cNvPr name="TextBox 95" id="95"/>
          <p:cNvSpPr txBox="true"/>
          <p:nvPr/>
        </p:nvSpPr>
        <p:spPr>
          <a:xfrm rot="0">
            <a:off x="345833" y="4567136"/>
            <a:ext cx="1555595" cy="507365"/>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Poppins Bold"/>
                <a:ea typeface="Poppins Bold"/>
                <a:cs typeface="Poppins Bold"/>
                <a:sym typeface="Poppins Bold"/>
              </a:rPr>
              <a:t>1.1 Pembentukan Tim Proyek</a:t>
            </a:r>
          </a:p>
        </p:txBody>
      </p:sp>
      <p:grpSp>
        <p:nvGrpSpPr>
          <p:cNvPr name="Group 96" id="96"/>
          <p:cNvGrpSpPr/>
          <p:nvPr/>
        </p:nvGrpSpPr>
        <p:grpSpPr>
          <a:xfrm rot="0">
            <a:off x="229673" y="5439463"/>
            <a:ext cx="1835341" cy="857337"/>
            <a:chOff x="0" y="0"/>
            <a:chExt cx="2285967" cy="1067837"/>
          </a:xfrm>
        </p:grpSpPr>
        <p:sp>
          <p:nvSpPr>
            <p:cNvPr name="Freeform 97" id="97"/>
            <p:cNvSpPr/>
            <p:nvPr/>
          </p:nvSpPr>
          <p:spPr>
            <a:xfrm flipH="false" flipV="false" rot="0">
              <a:off x="0" y="0"/>
              <a:ext cx="2285967" cy="1067837"/>
            </a:xfrm>
            <a:custGeom>
              <a:avLst/>
              <a:gdLst/>
              <a:ahLst/>
              <a:cxnLst/>
              <a:rect r="r" b="b" t="t" l="l"/>
              <a:pathLst>
                <a:path h="1067837" w="2285967">
                  <a:moveTo>
                    <a:pt x="2161507" y="1067837"/>
                  </a:moveTo>
                  <a:lnTo>
                    <a:pt x="124460" y="1067837"/>
                  </a:lnTo>
                  <a:cubicBezTo>
                    <a:pt x="55880" y="1067837"/>
                    <a:pt x="0" y="1011957"/>
                    <a:pt x="0" y="943377"/>
                  </a:cubicBezTo>
                  <a:lnTo>
                    <a:pt x="0" y="124460"/>
                  </a:lnTo>
                  <a:cubicBezTo>
                    <a:pt x="0" y="55880"/>
                    <a:pt x="55880" y="0"/>
                    <a:pt x="124460" y="0"/>
                  </a:cubicBezTo>
                  <a:lnTo>
                    <a:pt x="2161507" y="0"/>
                  </a:lnTo>
                  <a:cubicBezTo>
                    <a:pt x="2230087" y="0"/>
                    <a:pt x="2285967" y="55880"/>
                    <a:pt x="2285967" y="124460"/>
                  </a:cubicBezTo>
                  <a:lnTo>
                    <a:pt x="2285967" y="943377"/>
                  </a:lnTo>
                  <a:cubicBezTo>
                    <a:pt x="2285967" y="1011957"/>
                    <a:pt x="2230087" y="1067837"/>
                    <a:pt x="2161507" y="1067837"/>
                  </a:cubicBezTo>
                  <a:close/>
                </a:path>
              </a:pathLst>
            </a:custGeom>
            <a:solidFill>
              <a:srgbClr val="5C94C1"/>
            </a:solidFill>
          </p:spPr>
        </p:sp>
      </p:grpSp>
      <p:sp>
        <p:nvSpPr>
          <p:cNvPr name="TextBox 98" id="98"/>
          <p:cNvSpPr txBox="true"/>
          <p:nvPr/>
        </p:nvSpPr>
        <p:spPr>
          <a:xfrm rot="0">
            <a:off x="293428" y="5444737"/>
            <a:ext cx="1706249" cy="755015"/>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Poppins Bold"/>
                <a:ea typeface="Poppins Bold"/>
                <a:cs typeface="Poppins Bold"/>
                <a:sym typeface="Poppins Bold"/>
              </a:rPr>
              <a:t>1.2 Menentukan Peran dan Tanggung Jawab</a:t>
            </a:r>
          </a:p>
        </p:txBody>
      </p:sp>
      <p:grpSp>
        <p:nvGrpSpPr>
          <p:cNvPr name="Group 99" id="99"/>
          <p:cNvGrpSpPr/>
          <p:nvPr/>
        </p:nvGrpSpPr>
        <p:grpSpPr>
          <a:xfrm rot="0">
            <a:off x="254212" y="6611553"/>
            <a:ext cx="1835341" cy="600985"/>
            <a:chOff x="0" y="0"/>
            <a:chExt cx="2285967" cy="752365"/>
          </a:xfrm>
        </p:grpSpPr>
        <p:sp>
          <p:nvSpPr>
            <p:cNvPr name="Freeform 100" id="100"/>
            <p:cNvSpPr/>
            <p:nvPr/>
          </p:nvSpPr>
          <p:spPr>
            <a:xfrm flipH="false" flipV="false" rot="0">
              <a:off x="0" y="0"/>
              <a:ext cx="2285967" cy="752366"/>
            </a:xfrm>
            <a:custGeom>
              <a:avLst/>
              <a:gdLst/>
              <a:ahLst/>
              <a:cxnLst/>
              <a:rect r="r" b="b" t="t" l="l"/>
              <a:pathLst>
                <a:path h="752366" w="2285967">
                  <a:moveTo>
                    <a:pt x="2161507" y="752365"/>
                  </a:moveTo>
                  <a:lnTo>
                    <a:pt x="124460" y="752365"/>
                  </a:lnTo>
                  <a:cubicBezTo>
                    <a:pt x="55880" y="752365"/>
                    <a:pt x="0" y="696486"/>
                    <a:pt x="0" y="627905"/>
                  </a:cubicBezTo>
                  <a:lnTo>
                    <a:pt x="0" y="124460"/>
                  </a:lnTo>
                  <a:cubicBezTo>
                    <a:pt x="0" y="55880"/>
                    <a:pt x="55880" y="0"/>
                    <a:pt x="124460" y="0"/>
                  </a:cubicBezTo>
                  <a:lnTo>
                    <a:pt x="2161507" y="0"/>
                  </a:lnTo>
                  <a:cubicBezTo>
                    <a:pt x="2230087" y="0"/>
                    <a:pt x="2285967" y="55880"/>
                    <a:pt x="2285967" y="124460"/>
                  </a:cubicBezTo>
                  <a:lnTo>
                    <a:pt x="2285967" y="627906"/>
                  </a:lnTo>
                  <a:cubicBezTo>
                    <a:pt x="2285967" y="696486"/>
                    <a:pt x="2230087" y="752366"/>
                    <a:pt x="2161507" y="752366"/>
                  </a:cubicBezTo>
                  <a:close/>
                </a:path>
              </a:pathLst>
            </a:custGeom>
            <a:solidFill>
              <a:srgbClr val="5C94C1"/>
            </a:solidFill>
          </p:spPr>
        </p:sp>
      </p:grpSp>
      <p:sp>
        <p:nvSpPr>
          <p:cNvPr name="TextBox 101" id="101"/>
          <p:cNvSpPr txBox="true"/>
          <p:nvPr/>
        </p:nvSpPr>
        <p:spPr>
          <a:xfrm rot="0">
            <a:off x="272804" y="6631949"/>
            <a:ext cx="1792210" cy="507365"/>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Poppins Bold"/>
                <a:ea typeface="Poppins Bold"/>
                <a:cs typeface="Poppins Bold"/>
                <a:sym typeface="Poppins Bold"/>
              </a:rPr>
              <a:t>1.3 Menyusun Penjadwalan</a:t>
            </a:r>
          </a:p>
        </p:txBody>
      </p:sp>
      <p:sp>
        <p:nvSpPr>
          <p:cNvPr name="AutoShape 102" id="102"/>
          <p:cNvSpPr/>
          <p:nvPr/>
        </p:nvSpPr>
        <p:spPr>
          <a:xfrm flipH="true" flipV="true">
            <a:off x="1146553" y="5133660"/>
            <a:ext cx="791" cy="316052"/>
          </a:xfrm>
          <a:prstGeom prst="line">
            <a:avLst/>
          </a:prstGeom>
          <a:ln cap="rnd" w="19050">
            <a:solidFill>
              <a:srgbClr val="000000"/>
            </a:solidFill>
            <a:prstDash val="solid"/>
            <a:headEnd type="none" len="sm" w="sm"/>
            <a:tailEnd type="none" len="sm" w="sm"/>
          </a:ln>
        </p:spPr>
      </p:sp>
      <p:sp>
        <p:nvSpPr>
          <p:cNvPr name="AutoShape 103" id="103"/>
          <p:cNvSpPr/>
          <p:nvPr/>
        </p:nvSpPr>
        <p:spPr>
          <a:xfrm flipH="true" flipV="true">
            <a:off x="1146948" y="6296824"/>
            <a:ext cx="791" cy="316052"/>
          </a:xfrm>
          <a:prstGeom prst="line">
            <a:avLst/>
          </a:prstGeom>
          <a:ln cap="rnd" w="19050">
            <a:solidFill>
              <a:srgbClr val="000000"/>
            </a:solidFill>
            <a:prstDash val="solid"/>
            <a:headEnd type="none" len="sm" w="sm"/>
            <a:tailEnd type="none" len="sm" w="sm"/>
          </a:ln>
        </p:spPr>
      </p:sp>
      <p:sp>
        <p:nvSpPr>
          <p:cNvPr name="AutoShape 104" id="104"/>
          <p:cNvSpPr/>
          <p:nvPr/>
        </p:nvSpPr>
        <p:spPr>
          <a:xfrm flipH="true" flipV="true">
            <a:off x="3160319" y="5122900"/>
            <a:ext cx="792" cy="316539"/>
          </a:xfrm>
          <a:prstGeom prst="line">
            <a:avLst/>
          </a:prstGeom>
          <a:ln cap="rnd" w="19050">
            <a:solidFill>
              <a:srgbClr val="000000"/>
            </a:solidFill>
            <a:prstDash val="solid"/>
            <a:headEnd type="none" len="sm" w="sm"/>
            <a:tailEnd type="none" len="sm" w="sm"/>
          </a:ln>
        </p:spPr>
      </p:sp>
      <p:sp>
        <p:nvSpPr>
          <p:cNvPr name="AutoShape 105" id="105"/>
          <p:cNvSpPr/>
          <p:nvPr/>
        </p:nvSpPr>
        <p:spPr>
          <a:xfrm flipH="true" flipV="true">
            <a:off x="3157387" y="6288741"/>
            <a:ext cx="792" cy="316539"/>
          </a:xfrm>
          <a:prstGeom prst="line">
            <a:avLst/>
          </a:prstGeom>
          <a:ln cap="rnd" w="19050">
            <a:solidFill>
              <a:srgbClr val="000000"/>
            </a:solidFill>
            <a:prstDash val="solid"/>
            <a:headEnd type="none" len="sm" w="sm"/>
            <a:tailEnd type="none" len="sm" w="sm"/>
          </a:ln>
        </p:spPr>
      </p:sp>
      <p:sp>
        <p:nvSpPr>
          <p:cNvPr name="AutoShape 106" id="106"/>
          <p:cNvSpPr/>
          <p:nvPr/>
        </p:nvSpPr>
        <p:spPr>
          <a:xfrm flipH="true" flipV="true">
            <a:off x="3170240" y="7139338"/>
            <a:ext cx="792" cy="316539"/>
          </a:xfrm>
          <a:prstGeom prst="line">
            <a:avLst/>
          </a:prstGeom>
          <a:ln cap="rnd" w="19050">
            <a:solidFill>
              <a:srgbClr val="000000"/>
            </a:solidFill>
            <a:prstDash val="solid"/>
            <a:headEnd type="none" len="sm" w="sm"/>
            <a:tailEnd type="none" len="sm" w="sm"/>
          </a:ln>
        </p:spPr>
      </p:sp>
      <p:sp>
        <p:nvSpPr>
          <p:cNvPr name="AutoShape 107" id="107"/>
          <p:cNvSpPr/>
          <p:nvPr/>
        </p:nvSpPr>
        <p:spPr>
          <a:xfrm flipV="true">
            <a:off x="5169152" y="2995474"/>
            <a:ext cx="0" cy="718802"/>
          </a:xfrm>
          <a:prstGeom prst="line">
            <a:avLst/>
          </a:prstGeom>
          <a:ln cap="rnd" w="19050">
            <a:solidFill>
              <a:srgbClr val="000000"/>
            </a:solidFill>
            <a:prstDash val="solid"/>
            <a:headEnd type="none" len="sm" w="sm"/>
            <a:tailEnd type="none" len="sm" w="sm"/>
          </a:ln>
        </p:spPr>
      </p:sp>
      <p:sp>
        <p:nvSpPr>
          <p:cNvPr name="AutoShape 108" id="108"/>
          <p:cNvSpPr/>
          <p:nvPr/>
        </p:nvSpPr>
        <p:spPr>
          <a:xfrm flipV="true">
            <a:off x="5169152" y="5382604"/>
            <a:ext cx="0" cy="374005"/>
          </a:xfrm>
          <a:prstGeom prst="line">
            <a:avLst/>
          </a:prstGeom>
          <a:ln cap="rnd" w="19050">
            <a:solidFill>
              <a:srgbClr val="000000"/>
            </a:solidFill>
            <a:prstDash val="solid"/>
            <a:headEnd type="none" len="sm" w="sm"/>
            <a:tailEnd type="none" len="sm" w="sm"/>
          </a:ln>
        </p:spPr>
      </p:sp>
      <p:sp>
        <p:nvSpPr>
          <p:cNvPr name="AutoShape 109" id="109"/>
          <p:cNvSpPr/>
          <p:nvPr/>
        </p:nvSpPr>
        <p:spPr>
          <a:xfrm flipH="true" flipV="true">
            <a:off x="5185873" y="6329323"/>
            <a:ext cx="3230" cy="412459"/>
          </a:xfrm>
          <a:prstGeom prst="line">
            <a:avLst/>
          </a:prstGeom>
          <a:ln cap="rnd" w="19050">
            <a:solidFill>
              <a:srgbClr val="000000"/>
            </a:solidFill>
            <a:prstDash val="solid"/>
            <a:headEnd type="none" len="sm" w="sm"/>
            <a:tailEnd type="none" len="sm" w="sm"/>
          </a:ln>
        </p:spPr>
      </p:sp>
      <p:sp>
        <p:nvSpPr>
          <p:cNvPr name="AutoShape 110" id="110"/>
          <p:cNvSpPr/>
          <p:nvPr/>
        </p:nvSpPr>
        <p:spPr>
          <a:xfrm flipH="true" flipV="true">
            <a:off x="9287566" y="2993591"/>
            <a:ext cx="0" cy="728421"/>
          </a:xfrm>
          <a:prstGeom prst="line">
            <a:avLst/>
          </a:prstGeom>
          <a:ln cap="rnd" w="19050">
            <a:solidFill>
              <a:srgbClr val="000000"/>
            </a:solidFill>
            <a:prstDash val="solid"/>
            <a:headEnd type="none" len="sm" w="sm"/>
            <a:tailEnd type="none" len="sm" w="sm"/>
          </a:ln>
        </p:spPr>
      </p:sp>
      <p:sp>
        <p:nvSpPr>
          <p:cNvPr name="AutoShape 111" id="111"/>
          <p:cNvSpPr/>
          <p:nvPr/>
        </p:nvSpPr>
        <p:spPr>
          <a:xfrm flipV="true">
            <a:off x="13330264" y="2993591"/>
            <a:ext cx="0" cy="727263"/>
          </a:xfrm>
          <a:prstGeom prst="line">
            <a:avLst/>
          </a:prstGeom>
          <a:ln cap="rnd" w="19050">
            <a:solidFill>
              <a:srgbClr val="000000"/>
            </a:solidFill>
            <a:prstDash val="solid"/>
            <a:headEnd type="none" len="sm" w="sm"/>
            <a:tailEnd type="none" len="sm" w="sm"/>
          </a:ln>
        </p:spPr>
      </p:sp>
      <p:grpSp>
        <p:nvGrpSpPr>
          <p:cNvPr name="Group 112" id="112"/>
          <p:cNvGrpSpPr/>
          <p:nvPr/>
        </p:nvGrpSpPr>
        <p:grpSpPr>
          <a:xfrm rot="0">
            <a:off x="12422484" y="4574746"/>
            <a:ext cx="1812331" cy="596156"/>
            <a:chOff x="0" y="0"/>
            <a:chExt cx="2285967" cy="751956"/>
          </a:xfrm>
        </p:grpSpPr>
        <p:sp>
          <p:nvSpPr>
            <p:cNvPr name="Freeform 113" id="113"/>
            <p:cNvSpPr/>
            <p:nvPr/>
          </p:nvSpPr>
          <p:spPr>
            <a:xfrm flipH="false" flipV="false" rot="0">
              <a:off x="0" y="0"/>
              <a:ext cx="2285967" cy="751956"/>
            </a:xfrm>
            <a:custGeom>
              <a:avLst/>
              <a:gdLst/>
              <a:ahLst/>
              <a:cxnLst/>
              <a:rect r="r" b="b" t="t" l="l"/>
              <a:pathLst>
                <a:path h="751956" w="2285967">
                  <a:moveTo>
                    <a:pt x="2161507" y="751956"/>
                  </a:moveTo>
                  <a:lnTo>
                    <a:pt x="124460" y="751956"/>
                  </a:lnTo>
                  <a:cubicBezTo>
                    <a:pt x="55880" y="751956"/>
                    <a:pt x="0" y="696076"/>
                    <a:pt x="0" y="627496"/>
                  </a:cubicBezTo>
                  <a:lnTo>
                    <a:pt x="0" y="124460"/>
                  </a:lnTo>
                  <a:cubicBezTo>
                    <a:pt x="0" y="55880"/>
                    <a:pt x="55880" y="0"/>
                    <a:pt x="124460" y="0"/>
                  </a:cubicBezTo>
                  <a:lnTo>
                    <a:pt x="2161507" y="0"/>
                  </a:lnTo>
                  <a:cubicBezTo>
                    <a:pt x="2230087" y="0"/>
                    <a:pt x="2285967" y="55880"/>
                    <a:pt x="2285967" y="124460"/>
                  </a:cubicBezTo>
                  <a:lnTo>
                    <a:pt x="2285967" y="627496"/>
                  </a:lnTo>
                  <a:cubicBezTo>
                    <a:pt x="2285967" y="696076"/>
                    <a:pt x="2230087" y="751956"/>
                    <a:pt x="2161507" y="751956"/>
                  </a:cubicBezTo>
                  <a:close/>
                </a:path>
              </a:pathLst>
            </a:custGeom>
            <a:solidFill>
              <a:srgbClr val="5EB58B"/>
            </a:solidFill>
          </p:spPr>
        </p:sp>
      </p:grpSp>
      <p:sp>
        <p:nvSpPr>
          <p:cNvPr name="TextBox 114" id="114"/>
          <p:cNvSpPr txBox="true"/>
          <p:nvPr/>
        </p:nvSpPr>
        <p:spPr>
          <a:xfrm rot="0">
            <a:off x="12466552" y="4593092"/>
            <a:ext cx="1715989" cy="507365"/>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Poppins Bold"/>
                <a:ea typeface="Poppins Bold"/>
                <a:cs typeface="Poppins Bold"/>
                <a:sym typeface="Poppins Bold"/>
              </a:rPr>
              <a:t>7</a:t>
            </a:r>
            <a:r>
              <a:rPr lang="en-US" b="true" sz="1400">
                <a:solidFill>
                  <a:srgbClr val="FFFFFF"/>
                </a:solidFill>
                <a:latin typeface="Poppins Bold"/>
                <a:ea typeface="Poppins Bold"/>
                <a:cs typeface="Poppins Bold"/>
                <a:sym typeface="Poppins Bold"/>
              </a:rPr>
              <a:t>.1 Implementasi Website  ke Host</a:t>
            </a:r>
          </a:p>
        </p:txBody>
      </p:sp>
      <p:sp>
        <p:nvSpPr>
          <p:cNvPr name="AutoShape 115" id="115"/>
          <p:cNvSpPr/>
          <p:nvPr/>
        </p:nvSpPr>
        <p:spPr>
          <a:xfrm flipH="true" flipV="true">
            <a:off x="15345102" y="2993591"/>
            <a:ext cx="739" cy="710532"/>
          </a:xfrm>
          <a:prstGeom prst="line">
            <a:avLst/>
          </a:prstGeom>
          <a:ln cap="rnd" w="19050">
            <a:solidFill>
              <a:srgbClr val="000000"/>
            </a:solidFill>
            <a:prstDash val="solid"/>
            <a:headEnd type="none" len="sm" w="sm"/>
            <a:tailEnd type="none" len="sm" w="sm"/>
          </a:ln>
        </p:spPr>
      </p:sp>
      <p:sp>
        <p:nvSpPr>
          <p:cNvPr name="TextBox 116" id="116"/>
          <p:cNvSpPr txBox="true"/>
          <p:nvPr/>
        </p:nvSpPr>
        <p:spPr>
          <a:xfrm rot="0">
            <a:off x="8123049" y="1981298"/>
            <a:ext cx="2703103" cy="578046"/>
          </a:xfrm>
          <a:prstGeom prst="rect">
            <a:avLst/>
          </a:prstGeom>
        </p:spPr>
        <p:txBody>
          <a:bodyPr anchor="t" rtlCol="false" tIns="0" lIns="0" bIns="0" rIns="0">
            <a:spAutoFit/>
          </a:bodyPr>
          <a:lstStyle/>
          <a:p>
            <a:pPr algn="ctr">
              <a:lnSpc>
                <a:spcPts val="2264"/>
              </a:lnSpc>
              <a:spcBef>
                <a:spcPct val="0"/>
              </a:spcBef>
            </a:pPr>
            <a:r>
              <a:rPr lang="en-US" b="true" sz="1617">
                <a:solidFill>
                  <a:srgbClr val="FFFFFF"/>
                </a:solidFill>
                <a:latin typeface="Poppins Bold"/>
                <a:ea typeface="Poppins Bold"/>
                <a:cs typeface="Poppins Bold"/>
                <a:sym typeface="Poppins Bold"/>
              </a:rPr>
              <a:t>WEBSITE PENYEWAAN KIOSQ</a:t>
            </a:r>
          </a:p>
        </p:txBody>
      </p:sp>
      <p:sp>
        <p:nvSpPr>
          <p:cNvPr name="AutoShape 117" id="117"/>
          <p:cNvSpPr/>
          <p:nvPr/>
        </p:nvSpPr>
        <p:spPr>
          <a:xfrm flipV="true">
            <a:off x="11332923" y="2993591"/>
            <a:ext cx="1621" cy="740505"/>
          </a:xfrm>
          <a:prstGeom prst="line">
            <a:avLst/>
          </a:prstGeom>
          <a:ln cap="rnd" w="19050">
            <a:solidFill>
              <a:srgbClr val="000000"/>
            </a:solidFill>
            <a:prstDash val="solid"/>
            <a:headEnd type="none" len="sm" w="sm"/>
            <a:tailEnd type="none" len="sm" w="sm"/>
          </a:ln>
        </p:spPr>
      </p:sp>
      <p:sp>
        <p:nvSpPr>
          <p:cNvPr name="AutoShape 118" id="118"/>
          <p:cNvSpPr/>
          <p:nvPr/>
        </p:nvSpPr>
        <p:spPr>
          <a:xfrm flipV="true">
            <a:off x="17321361" y="4235158"/>
            <a:ext cx="0" cy="375189"/>
          </a:xfrm>
          <a:prstGeom prst="line">
            <a:avLst/>
          </a:prstGeom>
          <a:ln cap="rnd" w="19050">
            <a:solidFill>
              <a:srgbClr val="000000"/>
            </a:solidFill>
            <a:prstDash val="solid"/>
            <a:headEnd type="none" len="sm" w="sm"/>
            <a:tailEnd type="none" len="sm" w="sm"/>
          </a:ln>
        </p:spPr>
      </p:sp>
      <p:grpSp>
        <p:nvGrpSpPr>
          <p:cNvPr name="Group 119" id="119"/>
          <p:cNvGrpSpPr/>
          <p:nvPr/>
        </p:nvGrpSpPr>
        <p:grpSpPr>
          <a:xfrm rot="0">
            <a:off x="16375967" y="4576887"/>
            <a:ext cx="1812331" cy="523570"/>
            <a:chOff x="0" y="0"/>
            <a:chExt cx="2285967" cy="660400"/>
          </a:xfrm>
        </p:grpSpPr>
        <p:sp>
          <p:nvSpPr>
            <p:cNvPr name="Freeform 120" id="120"/>
            <p:cNvSpPr/>
            <p:nvPr/>
          </p:nvSpPr>
          <p:spPr>
            <a:xfrm flipH="false" flipV="false" rot="0">
              <a:off x="0" y="0"/>
              <a:ext cx="2285967" cy="660400"/>
            </a:xfrm>
            <a:custGeom>
              <a:avLst/>
              <a:gdLst/>
              <a:ahLst/>
              <a:cxnLst/>
              <a:rect r="r" b="b" t="t" l="l"/>
              <a:pathLst>
                <a:path h="660400" w="2285967">
                  <a:moveTo>
                    <a:pt x="2161507" y="660400"/>
                  </a:moveTo>
                  <a:lnTo>
                    <a:pt x="124460" y="660400"/>
                  </a:lnTo>
                  <a:cubicBezTo>
                    <a:pt x="55880" y="660400"/>
                    <a:pt x="0" y="604520"/>
                    <a:pt x="0" y="535940"/>
                  </a:cubicBezTo>
                  <a:lnTo>
                    <a:pt x="0" y="124460"/>
                  </a:lnTo>
                  <a:cubicBezTo>
                    <a:pt x="0" y="55880"/>
                    <a:pt x="55880" y="0"/>
                    <a:pt x="124460" y="0"/>
                  </a:cubicBezTo>
                  <a:lnTo>
                    <a:pt x="2161507" y="0"/>
                  </a:lnTo>
                  <a:cubicBezTo>
                    <a:pt x="2230087" y="0"/>
                    <a:pt x="2285967" y="55880"/>
                    <a:pt x="2285967" y="124460"/>
                  </a:cubicBezTo>
                  <a:lnTo>
                    <a:pt x="2285967" y="535940"/>
                  </a:lnTo>
                  <a:cubicBezTo>
                    <a:pt x="2285967" y="604520"/>
                    <a:pt x="2230087" y="660400"/>
                    <a:pt x="2161507" y="660400"/>
                  </a:cubicBezTo>
                  <a:close/>
                </a:path>
              </a:pathLst>
            </a:custGeom>
            <a:solidFill>
              <a:srgbClr val="8C52FF"/>
            </a:solidFill>
          </p:spPr>
        </p:sp>
      </p:grpSp>
      <p:sp>
        <p:nvSpPr>
          <p:cNvPr name="TextBox 121" id="121"/>
          <p:cNvSpPr txBox="true"/>
          <p:nvPr/>
        </p:nvSpPr>
        <p:spPr>
          <a:xfrm rot="0">
            <a:off x="16444851" y="4567136"/>
            <a:ext cx="1674563" cy="507365"/>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Poppins Bold"/>
                <a:ea typeface="Poppins Bold"/>
                <a:cs typeface="Poppins Bold"/>
                <a:sym typeface="Poppins Bold"/>
              </a:rPr>
              <a:t>9</a:t>
            </a:r>
            <a:r>
              <a:rPr lang="en-US" b="true" sz="1400">
                <a:solidFill>
                  <a:srgbClr val="FFFFFF"/>
                </a:solidFill>
                <a:latin typeface="Poppins Bold"/>
                <a:ea typeface="Poppins Bold"/>
                <a:cs typeface="Poppins Bold"/>
                <a:sym typeface="Poppins Bold"/>
              </a:rPr>
              <a:t>.1 Monitoring dan Bug Fixing</a:t>
            </a:r>
          </a:p>
        </p:txBody>
      </p:sp>
      <p:grpSp>
        <p:nvGrpSpPr>
          <p:cNvPr name="Group 122" id="122"/>
          <p:cNvGrpSpPr/>
          <p:nvPr/>
        </p:nvGrpSpPr>
        <p:grpSpPr>
          <a:xfrm rot="0">
            <a:off x="16368402" y="3704123"/>
            <a:ext cx="1812331" cy="531035"/>
            <a:chOff x="0" y="0"/>
            <a:chExt cx="2285967" cy="669815"/>
          </a:xfrm>
        </p:grpSpPr>
        <p:sp>
          <p:nvSpPr>
            <p:cNvPr name="Freeform 123" id="123"/>
            <p:cNvSpPr/>
            <p:nvPr/>
          </p:nvSpPr>
          <p:spPr>
            <a:xfrm flipH="false" flipV="false" rot="0">
              <a:off x="0" y="0"/>
              <a:ext cx="2285967" cy="669816"/>
            </a:xfrm>
            <a:custGeom>
              <a:avLst/>
              <a:gdLst/>
              <a:ahLst/>
              <a:cxnLst/>
              <a:rect r="r" b="b" t="t" l="l"/>
              <a:pathLst>
                <a:path h="669816" w="2285967">
                  <a:moveTo>
                    <a:pt x="2161507" y="669815"/>
                  </a:moveTo>
                  <a:lnTo>
                    <a:pt x="124460" y="669815"/>
                  </a:lnTo>
                  <a:cubicBezTo>
                    <a:pt x="55880" y="669815"/>
                    <a:pt x="0" y="613935"/>
                    <a:pt x="0" y="545355"/>
                  </a:cubicBezTo>
                  <a:lnTo>
                    <a:pt x="0" y="124460"/>
                  </a:lnTo>
                  <a:cubicBezTo>
                    <a:pt x="0" y="55880"/>
                    <a:pt x="55880" y="0"/>
                    <a:pt x="124460" y="0"/>
                  </a:cubicBezTo>
                  <a:lnTo>
                    <a:pt x="2161507" y="0"/>
                  </a:lnTo>
                  <a:cubicBezTo>
                    <a:pt x="2230087" y="0"/>
                    <a:pt x="2285967" y="55880"/>
                    <a:pt x="2285967" y="124460"/>
                  </a:cubicBezTo>
                  <a:lnTo>
                    <a:pt x="2285967" y="545356"/>
                  </a:lnTo>
                  <a:cubicBezTo>
                    <a:pt x="2285967" y="613935"/>
                    <a:pt x="2230087" y="669816"/>
                    <a:pt x="2161507" y="669816"/>
                  </a:cubicBezTo>
                  <a:close/>
                </a:path>
              </a:pathLst>
            </a:custGeom>
            <a:solidFill>
              <a:srgbClr val="E4760F"/>
            </a:solidFill>
          </p:spPr>
        </p:sp>
      </p:grpSp>
      <p:sp>
        <p:nvSpPr>
          <p:cNvPr name="TextBox 124" id="124"/>
          <p:cNvSpPr txBox="true"/>
          <p:nvPr/>
        </p:nvSpPr>
        <p:spPr>
          <a:xfrm rot="0">
            <a:off x="16368402" y="3800573"/>
            <a:ext cx="1807525"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FFFFFF"/>
                </a:solidFill>
                <a:latin typeface="Poppins Bold"/>
                <a:ea typeface="Poppins Bold"/>
                <a:cs typeface="Poppins Bold"/>
                <a:sym typeface="Poppins Bold"/>
              </a:rPr>
              <a:t> 9.Pemeliharaan</a:t>
            </a:r>
          </a:p>
        </p:txBody>
      </p:sp>
      <p:sp>
        <p:nvSpPr>
          <p:cNvPr name="AutoShape 125" id="125"/>
          <p:cNvSpPr/>
          <p:nvPr/>
        </p:nvSpPr>
        <p:spPr>
          <a:xfrm flipV="true">
            <a:off x="17321361" y="2995474"/>
            <a:ext cx="0" cy="708649"/>
          </a:xfrm>
          <a:prstGeom prst="line">
            <a:avLst/>
          </a:prstGeom>
          <a:ln cap="rnd" w="19050">
            <a:solidFill>
              <a:srgbClr val="000000"/>
            </a:solidFill>
            <a:prstDash val="solid"/>
            <a:headEnd type="none" len="sm" w="sm"/>
            <a:tailEnd type="none" len="sm" w="sm"/>
          </a:ln>
        </p:spPr>
      </p:sp>
      <p:grpSp>
        <p:nvGrpSpPr>
          <p:cNvPr name="Group 126" id="126"/>
          <p:cNvGrpSpPr/>
          <p:nvPr/>
        </p:nvGrpSpPr>
        <p:grpSpPr>
          <a:xfrm rot="0">
            <a:off x="6327982" y="5453141"/>
            <a:ext cx="1812331" cy="572640"/>
            <a:chOff x="0" y="0"/>
            <a:chExt cx="2285967" cy="722294"/>
          </a:xfrm>
        </p:grpSpPr>
        <p:sp>
          <p:nvSpPr>
            <p:cNvPr name="Freeform 127" id="127"/>
            <p:cNvSpPr/>
            <p:nvPr/>
          </p:nvSpPr>
          <p:spPr>
            <a:xfrm flipH="false" flipV="false" rot="0">
              <a:off x="0" y="0"/>
              <a:ext cx="2285967" cy="722294"/>
            </a:xfrm>
            <a:custGeom>
              <a:avLst/>
              <a:gdLst/>
              <a:ahLst/>
              <a:cxnLst/>
              <a:rect r="r" b="b" t="t" l="l"/>
              <a:pathLst>
                <a:path h="722294" w="2285967">
                  <a:moveTo>
                    <a:pt x="2161507" y="722294"/>
                  </a:moveTo>
                  <a:lnTo>
                    <a:pt x="124460" y="722294"/>
                  </a:lnTo>
                  <a:cubicBezTo>
                    <a:pt x="55880" y="722294"/>
                    <a:pt x="0" y="666414"/>
                    <a:pt x="0" y="597834"/>
                  </a:cubicBezTo>
                  <a:lnTo>
                    <a:pt x="0" y="124460"/>
                  </a:lnTo>
                  <a:cubicBezTo>
                    <a:pt x="0" y="55880"/>
                    <a:pt x="55880" y="0"/>
                    <a:pt x="124460" y="0"/>
                  </a:cubicBezTo>
                  <a:lnTo>
                    <a:pt x="2161507" y="0"/>
                  </a:lnTo>
                  <a:cubicBezTo>
                    <a:pt x="2230087" y="0"/>
                    <a:pt x="2285967" y="55880"/>
                    <a:pt x="2285967" y="124460"/>
                  </a:cubicBezTo>
                  <a:lnTo>
                    <a:pt x="2285967" y="597834"/>
                  </a:lnTo>
                  <a:cubicBezTo>
                    <a:pt x="2285967" y="666414"/>
                    <a:pt x="2230087" y="722294"/>
                    <a:pt x="2161507" y="722294"/>
                  </a:cubicBezTo>
                  <a:close/>
                </a:path>
              </a:pathLst>
            </a:custGeom>
            <a:solidFill>
              <a:srgbClr val="54999E"/>
            </a:solidFill>
          </p:spPr>
        </p:sp>
      </p:grpSp>
      <p:grpSp>
        <p:nvGrpSpPr>
          <p:cNvPr name="Group 128" id="128"/>
          <p:cNvGrpSpPr/>
          <p:nvPr/>
        </p:nvGrpSpPr>
        <p:grpSpPr>
          <a:xfrm rot="0">
            <a:off x="6316218" y="6436238"/>
            <a:ext cx="1812331" cy="558860"/>
            <a:chOff x="0" y="0"/>
            <a:chExt cx="2285967" cy="704913"/>
          </a:xfrm>
        </p:grpSpPr>
        <p:sp>
          <p:nvSpPr>
            <p:cNvPr name="Freeform 129" id="129"/>
            <p:cNvSpPr/>
            <p:nvPr/>
          </p:nvSpPr>
          <p:spPr>
            <a:xfrm flipH="false" flipV="false" rot="0">
              <a:off x="0" y="0"/>
              <a:ext cx="2285967" cy="704913"/>
            </a:xfrm>
            <a:custGeom>
              <a:avLst/>
              <a:gdLst/>
              <a:ahLst/>
              <a:cxnLst/>
              <a:rect r="r" b="b" t="t" l="l"/>
              <a:pathLst>
                <a:path h="704913" w="2285967">
                  <a:moveTo>
                    <a:pt x="2161507" y="704913"/>
                  </a:moveTo>
                  <a:lnTo>
                    <a:pt x="124460" y="704913"/>
                  </a:lnTo>
                  <a:cubicBezTo>
                    <a:pt x="55880" y="704913"/>
                    <a:pt x="0" y="649033"/>
                    <a:pt x="0" y="580453"/>
                  </a:cubicBezTo>
                  <a:lnTo>
                    <a:pt x="0" y="124460"/>
                  </a:lnTo>
                  <a:cubicBezTo>
                    <a:pt x="0" y="55880"/>
                    <a:pt x="55880" y="0"/>
                    <a:pt x="124460" y="0"/>
                  </a:cubicBezTo>
                  <a:lnTo>
                    <a:pt x="2161507" y="0"/>
                  </a:lnTo>
                  <a:cubicBezTo>
                    <a:pt x="2230087" y="0"/>
                    <a:pt x="2285967" y="55880"/>
                    <a:pt x="2285967" y="124460"/>
                  </a:cubicBezTo>
                  <a:lnTo>
                    <a:pt x="2285967" y="580453"/>
                  </a:lnTo>
                  <a:cubicBezTo>
                    <a:pt x="2285967" y="649033"/>
                    <a:pt x="2230087" y="704913"/>
                    <a:pt x="2161507" y="704913"/>
                  </a:cubicBezTo>
                  <a:close/>
                </a:path>
              </a:pathLst>
            </a:custGeom>
            <a:solidFill>
              <a:srgbClr val="54999E"/>
            </a:solidFill>
          </p:spPr>
        </p:sp>
      </p:grpSp>
      <p:grpSp>
        <p:nvGrpSpPr>
          <p:cNvPr name="Group 130" id="130"/>
          <p:cNvGrpSpPr/>
          <p:nvPr/>
        </p:nvGrpSpPr>
        <p:grpSpPr>
          <a:xfrm rot="0">
            <a:off x="6337507" y="3688811"/>
            <a:ext cx="1812331" cy="555613"/>
            <a:chOff x="0" y="0"/>
            <a:chExt cx="2285967" cy="700818"/>
          </a:xfrm>
        </p:grpSpPr>
        <p:sp>
          <p:nvSpPr>
            <p:cNvPr name="Freeform 131" id="131"/>
            <p:cNvSpPr/>
            <p:nvPr/>
          </p:nvSpPr>
          <p:spPr>
            <a:xfrm flipH="false" flipV="false" rot="0">
              <a:off x="0" y="0"/>
              <a:ext cx="2285967" cy="700818"/>
            </a:xfrm>
            <a:custGeom>
              <a:avLst/>
              <a:gdLst/>
              <a:ahLst/>
              <a:cxnLst/>
              <a:rect r="r" b="b" t="t" l="l"/>
              <a:pathLst>
                <a:path h="700818" w="2285967">
                  <a:moveTo>
                    <a:pt x="2161507" y="700818"/>
                  </a:moveTo>
                  <a:lnTo>
                    <a:pt x="124460" y="700818"/>
                  </a:lnTo>
                  <a:cubicBezTo>
                    <a:pt x="55880" y="700818"/>
                    <a:pt x="0" y="644938"/>
                    <a:pt x="0" y="576358"/>
                  </a:cubicBezTo>
                  <a:lnTo>
                    <a:pt x="0" y="124460"/>
                  </a:lnTo>
                  <a:cubicBezTo>
                    <a:pt x="0" y="55880"/>
                    <a:pt x="55880" y="0"/>
                    <a:pt x="124460" y="0"/>
                  </a:cubicBezTo>
                  <a:lnTo>
                    <a:pt x="2161507" y="0"/>
                  </a:lnTo>
                  <a:cubicBezTo>
                    <a:pt x="2230087" y="0"/>
                    <a:pt x="2285967" y="55880"/>
                    <a:pt x="2285967" y="124460"/>
                  </a:cubicBezTo>
                  <a:lnTo>
                    <a:pt x="2285967" y="576358"/>
                  </a:lnTo>
                  <a:cubicBezTo>
                    <a:pt x="2285967" y="644938"/>
                    <a:pt x="2230087" y="700818"/>
                    <a:pt x="2161507" y="700818"/>
                  </a:cubicBezTo>
                  <a:close/>
                </a:path>
              </a:pathLst>
            </a:custGeom>
            <a:solidFill>
              <a:srgbClr val="E4760F"/>
            </a:solidFill>
          </p:spPr>
        </p:sp>
      </p:grpSp>
      <p:grpSp>
        <p:nvGrpSpPr>
          <p:cNvPr name="Group 132" id="132"/>
          <p:cNvGrpSpPr/>
          <p:nvPr/>
        </p:nvGrpSpPr>
        <p:grpSpPr>
          <a:xfrm rot="0">
            <a:off x="6293054" y="4577146"/>
            <a:ext cx="1812331" cy="523570"/>
            <a:chOff x="0" y="0"/>
            <a:chExt cx="2285967" cy="660400"/>
          </a:xfrm>
        </p:grpSpPr>
        <p:sp>
          <p:nvSpPr>
            <p:cNvPr name="Freeform 133" id="133"/>
            <p:cNvSpPr/>
            <p:nvPr/>
          </p:nvSpPr>
          <p:spPr>
            <a:xfrm flipH="false" flipV="false" rot="0">
              <a:off x="0" y="0"/>
              <a:ext cx="2285967" cy="660400"/>
            </a:xfrm>
            <a:custGeom>
              <a:avLst/>
              <a:gdLst/>
              <a:ahLst/>
              <a:cxnLst/>
              <a:rect r="r" b="b" t="t" l="l"/>
              <a:pathLst>
                <a:path h="660400" w="2285967">
                  <a:moveTo>
                    <a:pt x="2161507" y="660400"/>
                  </a:moveTo>
                  <a:lnTo>
                    <a:pt x="124460" y="660400"/>
                  </a:lnTo>
                  <a:cubicBezTo>
                    <a:pt x="55880" y="660400"/>
                    <a:pt x="0" y="604520"/>
                    <a:pt x="0" y="535940"/>
                  </a:cubicBezTo>
                  <a:lnTo>
                    <a:pt x="0" y="124460"/>
                  </a:lnTo>
                  <a:cubicBezTo>
                    <a:pt x="0" y="55880"/>
                    <a:pt x="55880" y="0"/>
                    <a:pt x="124460" y="0"/>
                  </a:cubicBezTo>
                  <a:lnTo>
                    <a:pt x="2161507" y="0"/>
                  </a:lnTo>
                  <a:cubicBezTo>
                    <a:pt x="2230087" y="0"/>
                    <a:pt x="2285967" y="55880"/>
                    <a:pt x="2285967" y="124460"/>
                  </a:cubicBezTo>
                  <a:lnTo>
                    <a:pt x="2285967" y="535940"/>
                  </a:lnTo>
                  <a:cubicBezTo>
                    <a:pt x="2285967" y="604520"/>
                    <a:pt x="2230087" y="660400"/>
                    <a:pt x="2161507" y="660400"/>
                  </a:cubicBezTo>
                  <a:close/>
                </a:path>
              </a:pathLst>
            </a:custGeom>
            <a:solidFill>
              <a:srgbClr val="54999E"/>
            </a:solidFill>
          </p:spPr>
        </p:sp>
      </p:grpSp>
      <p:sp>
        <p:nvSpPr>
          <p:cNvPr name="AutoShape 134" id="134"/>
          <p:cNvSpPr/>
          <p:nvPr/>
        </p:nvSpPr>
        <p:spPr>
          <a:xfrm flipH="true" flipV="true">
            <a:off x="7222383" y="4208582"/>
            <a:ext cx="21289" cy="385293"/>
          </a:xfrm>
          <a:prstGeom prst="line">
            <a:avLst/>
          </a:prstGeom>
          <a:ln cap="rnd" w="19050">
            <a:solidFill>
              <a:srgbClr val="000000"/>
            </a:solidFill>
            <a:prstDash val="solid"/>
            <a:headEnd type="none" len="sm" w="sm"/>
            <a:tailEnd type="none" len="sm" w="sm"/>
          </a:ln>
        </p:spPr>
      </p:sp>
      <p:sp>
        <p:nvSpPr>
          <p:cNvPr name="TextBox 135" id="135"/>
          <p:cNvSpPr txBox="true"/>
          <p:nvPr/>
        </p:nvSpPr>
        <p:spPr>
          <a:xfrm rot="0">
            <a:off x="6337507" y="5454262"/>
            <a:ext cx="1769753" cy="507365"/>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Poppins Bold"/>
                <a:ea typeface="Poppins Bold"/>
                <a:cs typeface="Poppins Bold"/>
                <a:sym typeface="Poppins Bold"/>
              </a:rPr>
              <a:t>4.2 Prototype Review </a:t>
            </a:r>
          </a:p>
        </p:txBody>
      </p:sp>
      <p:sp>
        <p:nvSpPr>
          <p:cNvPr name="TextBox 136" id="136"/>
          <p:cNvSpPr txBox="true"/>
          <p:nvPr/>
        </p:nvSpPr>
        <p:spPr>
          <a:xfrm rot="0">
            <a:off x="6384289" y="6564139"/>
            <a:ext cx="1701517" cy="259715"/>
          </a:xfrm>
          <a:prstGeom prst="rect">
            <a:avLst/>
          </a:prstGeom>
        </p:spPr>
        <p:txBody>
          <a:bodyPr anchor="t" rtlCol="false" tIns="0" lIns="0" bIns="0" rIns="0">
            <a:spAutoFit/>
          </a:bodyPr>
          <a:lstStyle/>
          <a:p>
            <a:pPr algn="ctr">
              <a:lnSpc>
                <a:spcPts val="1959"/>
              </a:lnSpc>
              <a:spcBef>
                <a:spcPct val="0"/>
              </a:spcBef>
            </a:pPr>
            <a:r>
              <a:rPr lang="en-US" b="true" sz="1399">
                <a:solidFill>
                  <a:srgbClr val="FFFFFF"/>
                </a:solidFill>
                <a:latin typeface="Poppins Bold"/>
                <a:ea typeface="Poppins Bold"/>
                <a:cs typeface="Poppins Bold"/>
                <a:sym typeface="Poppins Bold"/>
              </a:rPr>
              <a:t>4.3 Prototype 2</a:t>
            </a:r>
          </a:p>
        </p:txBody>
      </p:sp>
      <p:sp>
        <p:nvSpPr>
          <p:cNvPr name="TextBox 137" id="137"/>
          <p:cNvSpPr txBox="true"/>
          <p:nvPr/>
        </p:nvSpPr>
        <p:spPr>
          <a:xfrm rot="0">
            <a:off x="6337507" y="4681276"/>
            <a:ext cx="1752504" cy="259715"/>
          </a:xfrm>
          <a:prstGeom prst="rect">
            <a:avLst/>
          </a:prstGeom>
        </p:spPr>
        <p:txBody>
          <a:bodyPr anchor="t" rtlCol="false" tIns="0" lIns="0" bIns="0" rIns="0">
            <a:spAutoFit/>
          </a:bodyPr>
          <a:lstStyle/>
          <a:p>
            <a:pPr algn="ctr">
              <a:lnSpc>
                <a:spcPts val="1960"/>
              </a:lnSpc>
              <a:spcBef>
                <a:spcPct val="0"/>
              </a:spcBef>
            </a:pPr>
            <a:r>
              <a:rPr lang="en-US" b="true" sz="1400">
                <a:solidFill>
                  <a:srgbClr val="FFFFFF"/>
                </a:solidFill>
                <a:latin typeface="Poppins Bold"/>
                <a:ea typeface="Poppins Bold"/>
                <a:cs typeface="Poppins Bold"/>
                <a:sym typeface="Poppins Bold"/>
              </a:rPr>
              <a:t>4.1 Prototype 1</a:t>
            </a:r>
          </a:p>
        </p:txBody>
      </p:sp>
      <p:sp>
        <p:nvSpPr>
          <p:cNvPr name="TextBox 138" id="138"/>
          <p:cNvSpPr txBox="true"/>
          <p:nvPr/>
        </p:nvSpPr>
        <p:spPr>
          <a:xfrm rot="0">
            <a:off x="6373824" y="3717250"/>
            <a:ext cx="1744762"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FFFFFF"/>
                </a:solidFill>
                <a:latin typeface="Poppins Bold"/>
                <a:ea typeface="Poppins Bold"/>
                <a:cs typeface="Poppins Bold"/>
                <a:sym typeface="Poppins Bold"/>
              </a:rPr>
              <a:t>4. Prototyping</a:t>
            </a:r>
          </a:p>
        </p:txBody>
      </p:sp>
      <p:sp>
        <p:nvSpPr>
          <p:cNvPr name="AutoShape 139" id="139"/>
          <p:cNvSpPr/>
          <p:nvPr/>
        </p:nvSpPr>
        <p:spPr>
          <a:xfrm flipV="true">
            <a:off x="7225960" y="2982093"/>
            <a:ext cx="0" cy="718802"/>
          </a:xfrm>
          <a:prstGeom prst="line">
            <a:avLst/>
          </a:prstGeom>
          <a:ln cap="rnd" w="19050">
            <a:solidFill>
              <a:srgbClr val="000000"/>
            </a:solidFill>
            <a:prstDash val="solid"/>
            <a:headEnd type="none" len="sm" w="sm"/>
            <a:tailEnd type="none" len="sm" w="sm"/>
          </a:ln>
        </p:spPr>
      </p:sp>
      <p:sp>
        <p:nvSpPr>
          <p:cNvPr name="AutoShape 140" id="140"/>
          <p:cNvSpPr/>
          <p:nvPr/>
        </p:nvSpPr>
        <p:spPr>
          <a:xfrm flipV="true">
            <a:off x="7225960" y="5090428"/>
            <a:ext cx="0" cy="374005"/>
          </a:xfrm>
          <a:prstGeom prst="line">
            <a:avLst/>
          </a:prstGeom>
          <a:ln cap="rnd" w="19050">
            <a:solidFill>
              <a:srgbClr val="000000"/>
            </a:solidFill>
            <a:prstDash val="solid"/>
            <a:headEnd type="none" len="sm" w="sm"/>
            <a:tailEnd type="none" len="sm" w="sm"/>
          </a:ln>
        </p:spPr>
      </p:sp>
      <p:sp>
        <p:nvSpPr>
          <p:cNvPr name="AutoShape 141" id="141"/>
          <p:cNvSpPr/>
          <p:nvPr/>
        </p:nvSpPr>
        <p:spPr>
          <a:xfrm flipH="true" flipV="true">
            <a:off x="7242682" y="6025855"/>
            <a:ext cx="3230" cy="412459"/>
          </a:xfrm>
          <a:prstGeom prst="line">
            <a:avLst/>
          </a:prstGeom>
          <a:ln cap="rnd" w="19050">
            <a:solidFill>
              <a:srgbClr val="000000"/>
            </a:soli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578216" y="536583"/>
            <a:ext cx="15131567" cy="933450"/>
          </a:xfrm>
          <a:prstGeom prst="rect">
            <a:avLst/>
          </a:prstGeom>
        </p:spPr>
        <p:txBody>
          <a:bodyPr anchor="t" rtlCol="false" tIns="0" lIns="0" bIns="0" rIns="0">
            <a:spAutoFit/>
          </a:bodyPr>
          <a:lstStyle/>
          <a:p>
            <a:pPr algn="ctr">
              <a:lnSpc>
                <a:spcPts val="7393"/>
              </a:lnSpc>
            </a:pPr>
            <a:r>
              <a:rPr lang="en-US" b="true" sz="6161">
                <a:solidFill>
                  <a:srgbClr val="5C94C1"/>
                </a:solidFill>
                <a:latin typeface="Shantell Sans Bold"/>
                <a:ea typeface="Shantell Sans Bold"/>
                <a:cs typeface="Shantell Sans Bold"/>
                <a:sym typeface="Shantell Sans Bold"/>
              </a:rPr>
              <a:t>GANTT CHART</a:t>
            </a:r>
          </a:p>
        </p:txBody>
      </p:sp>
      <p:sp>
        <p:nvSpPr>
          <p:cNvPr name="Freeform 3" id="3"/>
          <p:cNvSpPr/>
          <p:nvPr/>
        </p:nvSpPr>
        <p:spPr>
          <a:xfrm flipH="false" flipV="true" rot="0">
            <a:off x="-233333" y="-261025"/>
            <a:ext cx="5895244" cy="3462116"/>
          </a:xfrm>
          <a:custGeom>
            <a:avLst/>
            <a:gdLst/>
            <a:ahLst/>
            <a:cxnLst/>
            <a:rect r="r" b="b" t="t" l="l"/>
            <a:pathLst>
              <a:path h="3462116" w="5895244">
                <a:moveTo>
                  <a:pt x="0" y="3462116"/>
                </a:moveTo>
                <a:lnTo>
                  <a:pt x="5895244" y="3462116"/>
                </a:lnTo>
                <a:lnTo>
                  <a:pt x="5895244" y="0"/>
                </a:lnTo>
                <a:lnTo>
                  <a:pt x="0" y="0"/>
                </a:lnTo>
                <a:lnTo>
                  <a:pt x="0" y="34621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2626089" y="-261025"/>
            <a:ext cx="5895244" cy="3462116"/>
          </a:xfrm>
          <a:custGeom>
            <a:avLst/>
            <a:gdLst/>
            <a:ahLst/>
            <a:cxnLst/>
            <a:rect r="r" b="b" t="t" l="l"/>
            <a:pathLst>
              <a:path h="3462116" w="5895244">
                <a:moveTo>
                  <a:pt x="5895244" y="3462116"/>
                </a:moveTo>
                <a:lnTo>
                  <a:pt x="0" y="3462116"/>
                </a:lnTo>
                <a:lnTo>
                  <a:pt x="0" y="0"/>
                </a:lnTo>
                <a:lnTo>
                  <a:pt x="5895244" y="0"/>
                </a:lnTo>
                <a:lnTo>
                  <a:pt x="5895244" y="34621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57167" y="2615374"/>
            <a:ext cx="16573666" cy="5759349"/>
          </a:xfrm>
          <a:custGeom>
            <a:avLst/>
            <a:gdLst/>
            <a:ahLst/>
            <a:cxnLst/>
            <a:rect r="r" b="b" t="t" l="l"/>
            <a:pathLst>
              <a:path h="5759349" w="16573666">
                <a:moveTo>
                  <a:pt x="0" y="0"/>
                </a:moveTo>
                <a:lnTo>
                  <a:pt x="16573666" y="0"/>
                </a:lnTo>
                <a:lnTo>
                  <a:pt x="16573666" y="5759349"/>
                </a:lnTo>
                <a:lnTo>
                  <a:pt x="0" y="5759349"/>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578216" y="536583"/>
            <a:ext cx="15131567" cy="933450"/>
          </a:xfrm>
          <a:prstGeom prst="rect">
            <a:avLst/>
          </a:prstGeom>
        </p:spPr>
        <p:txBody>
          <a:bodyPr anchor="t" rtlCol="false" tIns="0" lIns="0" bIns="0" rIns="0">
            <a:spAutoFit/>
          </a:bodyPr>
          <a:lstStyle/>
          <a:p>
            <a:pPr algn="ctr">
              <a:lnSpc>
                <a:spcPts val="7393"/>
              </a:lnSpc>
            </a:pPr>
            <a:r>
              <a:rPr lang="en-US" b="true" sz="6161">
                <a:solidFill>
                  <a:srgbClr val="5C94C1"/>
                </a:solidFill>
                <a:latin typeface="Shantell Sans Bold"/>
                <a:ea typeface="Shantell Sans Bold"/>
                <a:cs typeface="Shantell Sans Bold"/>
                <a:sym typeface="Shantell Sans Bold"/>
              </a:rPr>
              <a:t>GANTT CHART</a:t>
            </a:r>
          </a:p>
        </p:txBody>
      </p:sp>
      <p:sp>
        <p:nvSpPr>
          <p:cNvPr name="Freeform 3" id="3"/>
          <p:cNvSpPr/>
          <p:nvPr/>
        </p:nvSpPr>
        <p:spPr>
          <a:xfrm flipH="false" flipV="true" rot="0">
            <a:off x="-233333" y="-261025"/>
            <a:ext cx="5895244" cy="3462116"/>
          </a:xfrm>
          <a:custGeom>
            <a:avLst/>
            <a:gdLst/>
            <a:ahLst/>
            <a:cxnLst/>
            <a:rect r="r" b="b" t="t" l="l"/>
            <a:pathLst>
              <a:path h="3462116" w="5895244">
                <a:moveTo>
                  <a:pt x="0" y="3462116"/>
                </a:moveTo>
                <a:lnTo>
                  <a:pt x="5895244" y="3462116"/>
                </a:lnTo>
                <a:lnTo>
                  <a:pt x="5895244" y="0"/>
                </a:lnTo>
                <a:lnTo>
                  <a:pt x="0" y="0"/>
                </a:lnTo>
                <a:lnTo>
                  <a:pt x="0" y="34621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2626089" y="-261025"/>
            <a:ext cx="5895244" cy="3462116"/>
          </a:xfrm>
          <a:custGeom>
            <a:avLst/>
            <a:gdLst/>
            <a:ahLst/>
            <a:cxnLst/>
            <a:rect r="r" b="b" t="t" l="l"/>
            <a:pathLst>
              <a:path h="3462116" w="5895244">
                <a:moveTo>
                  <a:pt x="5895244" y="3462116"/>
                </a:moveTo>
                <a:lnTo>
                  <a:pt x="0" y="3462116"/>
                </a:lnTo>
                <a:lnTo>
                  <a:pt x="0" y="0"/>
                </a:lnTo>
                <a:lnTo>
                  <a:pt x="5895244" y="0"/>
                </a:lnTo>
                <a:lnTo>
                  <a:pt x="5895244" y="34621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741878" y="1868661"/>
            <a:ext cx="16804245" cy="3402860"/>
          </a:xfrm>
          <a:custGeom>
            <a:avLst/>
            <a:gdLst/>
            <a:ahLst/>
            <a:cxnLst/>
            <a:rect r="r" b="b" t="t" l="l"/>
            <a:pathLst>
              <a:path h="3402860" w="16804245">
                <a:moveTo>
                  <a:pt x="0" y="0"/>
                </a:moveTo>
                <a:lnTo>
                  <a:pt x="16804244" y="0"/>
                </a:lnTo>
                <a:lnTo>
                  <a:pt x="16804244" y="3402859"/>
                </a:lnTo>
                <a:lnTo>
                  <a:pt x="0" y="3402859"/>
                </a:lnTo>
                <a:lnTo>
                  <a:pt x="0" y="0"/>
                </a:lnTo>
                <a:close/>
              </a:path>
            </a:pathLst>
          </a:custGeom>
          <a:blipFill>
            <a:blip r:embed="rId4"/>
            <a:stretch>
              <a:fillRect l="0" t="0" r="0" b="0"/>
            </a:stretch>
          </a:blipFill>
        </p:spPr>
      </p:sp>
      <p:sp>
        <p:nvSpPr>
          <p:cNvPr name="Freeform 6" id="6"/>
          <p:cNvSpPr/>
          <p:nvPr/>
        </p:nvSpPr>
        <p:spPr>
          <a:xfrm flipH="false" flipV="false" rot="0">
            <a:off x="2930327" y="5525210"/>
            <a:ext cx="12427346" cy="4411708"/>
          </a:xfrm>
          <a:custGeom>
            <a:avLst/>
            <a:gdLst/>
            <a:ahLst/>
            <a:cxnLst/>
            <a:rect r="r" b="b" t="t" l="l"/>
            <a:pathLst>
              <a:path h="4411708" w="12427346">
                <a:moveTo>
                  <a:pt x="0" y="0"/>
                </a:moveTo>
                <a:lnTo>
                  <a:pt x="12427346" y="0"/>
                </a:lnTo>
                <a:lnTo>
                  <a:pt x="12427346" y="4411708"/>
                </a:lnTo>
                <a:lnTo>
                  <a:pt x="0" y="4411708"/>
                </a:lnTo>
                <a:lnTo>
                  <a:pt x="0" y="0"/>
                </a:lnTo>
                <a:close/>
              </a:path>
            </a:pathLst>
          </a:custGeom>
          <a:blipFill>
            <a:blip r:embed="rId5"/>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578216" y="536583"/>
            <a:ext cx="15131567" cy="933450"/>
          </a:xfrm>
          <a:prstGeom prst="rect">
            <a:avLst/>
          </a:prstGeom>
        </p:spPr>
        <p:txBody>
          <a:bodyPr anchor="t" rtlCol="false" tIns="0" lIns="0" bIns="0" rIns="0">
            <a:spAutoFit/>
          </a:bodyPr>
          <a:lstStyle/>
          <a:p>
            <a:pPr algn="ctr">
              <a:lnSpc>
                <a:spcPts val="7393"/>
              </a:lnSpc>
            </a:pPr>
            <a:r>
              <a:rPr lang="en-US" b="true" sz="6161">
                <a:solidFill>
                  <a:srgbClr val="5C94C1"/>
                </a:solidFill>
                <a:latin typeface="Shantell Sans Bold"/>
                <a:ea typeface="Shantell Sans Bold"/>
                <a:cs typeface="Shantell Sans Bold"/>
                <a:sym typeface="Shantell Sans Bold"/>
              </a:rPr>
              <a:t>MILESTONE</a:t>
            </a:r>
          </a:p>
        </p:txBody>
      </p:sp>
      <p:sp>
        <p:nvSpPr>
          <p:cNvPr name="Freeform 3" id="3"/>
          <p:cNvSpPr/>
          <p:nvPr/>
        </p:nvSpPr>
        <p:spPr>
          <a:xfrm flipH="false" flipV="true" rot="0">
            <a:off x="-233333" y="-261025"/>
            <a:ext cx="5895244" cy="3462116"/>
          </a:xfrm>
          <a:custGeom>
            <a:avLst/>
            <a:gdLst/>
            <a:ahLst/>
            <a:cxnLst/>
            <a:rect r="r" b="b" t="t" l="l"/>
            <a:pathLst>
              <a:path h="3462116" w="5895244">
                <a:moveTo>
                  <a:pt x="0" y="3462116"/>
                </a:moveTo>
                <a:lnTo>
                  <a:pt x="5895244" y="3462116"/>
                </a:lnTo>
                <a:lnTo>
                  <a:pt x="5895244" y="0"/>
                </a:lnTo>
                <a:lnTo>
                  <a:pt x="0" y="0"/>
                </a:lnTo>
                <a:lnTo>
                  <a:pt x="0" y="34621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2626089" y="-261025"/>
            <a:ext cx="5895244" cy="3462116"/>
          </a:xfrm>
          <a:custGeom>
            <a:avLst/>
            <a:gdLst/>
            <a:ahLst/>
            <a:cxnLst/>
            <a:rect r="r" b="b" t="t" l="l"/>
            <a:pathLst>
              <a:path h="3462116" w="5895244">
                <a:moveTo>
                  <a:pt x="5895244" y="3462116"/>
                </a:moveTo>
                <a:lnTo>
                  <a:pt x="0" y="3462116"/>
                </a:lnTo>
                <a:lnTo>
                  <a:pt x="0" y="0"/>
                </a:lnTo>
                <a:lnTo>
                  <a:pt x="5895244" y="0"/>
                </a:lnTo>
                <a:lnTo>
                  <a:pt x="5895244" y="34621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469153" y="2212824"/>
            <a:ext cx="15349694" cy="6886575"/>
          </a:xfrm>
          <a:prstGeom prst="rect">
            <a:avLst/>
          </a:prstGeom>
        </p:spPr>
        <p:txBody>
          <a:bodyPr anchor="t" rtlCol="false" tIns="0" lIns="0" bIns="0" rIns="0">
            <a:spAutoFit/>
          </a:bodyPr>
          <a:lstStyle/>
          <a:p>
            <a:pPr algn="just">
              <a:lnSpc>
                <a:spcPts val="3600"/>
              </a:lnSpc>
            </a:pPr>
            <a:r>
              <a:rPr lang="en-US" sz="3000">
                <a:solidFill>
                  <a:srgbClr val="000000"/>
                </a:solidFill>
                <a:latin typeface="Poppins"/>
                <a:ea typeface="Poppins"/>
                <a:cs typeface="Poppins"/>
                <a:sym typeface="Poppins"/>
              </a:rPr>
              <a:t>1.Terbentuknya tim proyek lengkap dengan pembagian tugas dan jadwal kerja yang disepakati seluruh anggota sebagai acuan pelaksanaan proyek.</a:t>
            </a:r>
          </a:p>
          <a:p>
            <a:pPr algn="just">
              <a:lnSpc>
                <a:spcPts val="3600"/>
              </a:lnSpc>
            </a:pPr>
          </a:p>
          <a:p>
            <a:pPr algn="just">
              <a:lnSpc>
                <a:spcPts val="3600"/>
              </a:lnSpc>
            </a:pPr>
            <a:r>
              <a:rPr lang="en-US" sz="3000">
                <a:solidFill>
                  <a:srgbClr val="000000"/>
                </a:solidFill>
                <a:latin typeface="Poppins"/>
                <a:ea typeface="Poppins"/>
                <a:cs typeface="Poppins"/>
                <a:sym typeface="Poppins"/>
              </a:rPr>
              <a:t>2.Selesainya dokumen kebutuhan sistem dan model proses bisnis (RD &amp; BPMN) yang telah divalidasi oleh client sebagai dasar perancangan sistem.</a:t>
            </a:r>
          </a:p>
          <a:p>
            <a:pPr algn="just">
              <a:lnSpc>
                <a:spcPts val="3600"/>
              </a:lnSpc>
            </a:pPr>
          </a:p>
          <a:p>
            <a:pPr algn="just">
              <a:lnSpc>
                <a:spcPts val="3600"/>
              </a:lnSpc>
            </a:pPr>
            <a:r>
              <a:rPr lang="en-US" sz="3000">
                <a:solidFill>
                  <a:srgbClr val="000000"/>
                </a:solidFill>
                <a:latin typeface="Poppins"/>
                <a:ea typeface="Poppins"/>
                <a:cs typeface="Poppins"/>
                <a:sym typeface="Poppins"/>
              </a:rPr>
              <a:t>3.Tersusunnya desain arsitektur sistem, database, dan antarmuka pengguna yang telah direview dan disetujui sebagai blueprint pengembangan.</a:t>
            </a:r>
          </a:p>
          <a:p>
            <a:pPr algn="just">
              <a:lnSpc>
                <a:spcPts val="3600"/>
              </a:lnSpc>
            </a:pPr>
          </a:p>
          <a:p>
            <a:pPr algn="just">
              <a:lnSpc>
                <a:spcPts val="3600"/>
              </a:lnSpc>
            </a:pPr>
            <a:r>
              <a:rPr lang="en-US" sz="3000">
                <a:solidFill>
                  <a:srgbClr val="000000"/>
                </a:solidFill>
                <a:latin typeface="Poppins"/>
                <a:ea typeface="Poppins"/>
                <a:cs typeface="Poppins"/>
                <a:sym typeface="Poppins"/>
              </a:rPr>
              <a:t>4.Prototype akhir sistem telah disetujui client setelah melalui proses review dan perbaikan, siap menjadi dasar implementasi.</a:t>
            </a:r>
          </a:p>
          <a:p>
            <a:pPr algn="just">
              <a:lnSpc>
                <a:spcPts val="3600"/>
              </a:lnSpc>
            </a:pPr>
          </a:p>
          <a:p>
            <a:pPr algn="just">
              <a:lnSpc>
                <a:spcPts val="3600"/>
              </a:lnSpc>
            </a:pPr>
            <a:r>
              <a:rPr lang="en-US" sz="3000">
                <a:solidFill>
                  <a:srgbClr val="000000"/>
                </a:solidFill>
                <a:latin typeface="Poppins"/>
                <a:ea typeface="Poppins"/>
                <a:cs typeface="Poppins"/>
                <a:sym typeface="Poppins"/>
              </a:rPr>
              <a:t>5.Sistem berhasil dibangun secara penuh dengan semua fitur utama berfungsi dan siap diuji pada tahap berikutnya.</a:t>
            </a:r>
          </a:p>
          <a:p>
            <a:pPr algn="just">
              <a:lnSpc>
                <a:spcPts val="360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578216" y="536583"/>
            <a:ext cx="15131567" cy="933450"/>
          </a:xfrm>
          <a:prstGeom prst="rect">
            <a:avLst/>
          </a:prstGeom>
        </p:spPr>
        <p:txBody>
          <a:bodyPr anchor="t" rtlCol="false" tIns="0" lIns="0" bIns="0" rIns="0">
            <a:spAutoFit/>
          </a:bodyPr>
          <a:lstStyle/>
          <a:p>
            <a:pPr algn="ctr">
              <a:lnSpc>
                <a:spcPts val="7393"/>
              </a:lnSpc>
            </a:pPr>
            <a:r>
              <a:rPr lang="en-US" b="true" sz="6161">
                <a:solidFill>
                  <a:srgbClr val="5C94C1"/>
                </a:solidFill>
                <a:latin typeface="Shantell Sans Bold"/>
                <a:ea typeface="Shantell Sans Bold"/>
                <a:cs typeface="Shantell Sans Bold"/>
                <a:sym typeface="Shantell Sans Bold"/>
              </a:rPr>
              <a:t>MILESTONE</a:t>
            </a:r>
          </a:p>
        </p:txBody>
      </p:sp>
      <p:sp>
        <p:nvSpPr>
          <p:cNvPr name="Freeform 3" id="3"/>
          <p:cNvSpPr/>
          <p:nvPr/>
        </p:nvSpPr>
        <p:spPr>
          <a:xfrm flipH="false" flipV="true" rot="0">
            <a:off x="-233333" y="-261025"/>
            <a:ext cx="5895244" cy="3462116"/>
          </a:xfrm>
          <a:custGeom>
            <a:avLst/>
            <a:gdLst/>
            <a:ahLst/>
            <a:cxnLst/>
            <a:rect r="r" b="b" t="t" l="l"/>
            <a:pathLst>
              <a:path h="3462116" w="5895244">
                <a:moveTo>
                  <a:pt x="0" y="3462116"/>
                </a:moveTo>
                <a:lnTo>
                  <a:pt x="5895244" y="3462116"/>
                </a:lnTo>
                <a:lnTo>
                  <a:pt x="5895244" y="0"/>
                </a:lnTo>
                <a:lnTo>
                  <a:pt x="0" y="0"/>
                </a:lnTo>
                <a:lnTo>
                  <a:pt x="0" y="34621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2626089" y="-261025"/>
            <a:ext cx="5895244" cy="3462116"/>
          </a:xfrm>
          <a:custGeom>
            <a:avLst/>
            <a:gdLst/>
            <a:ahLst/>
            <a:cxnLst/>
            <a:rect r="r" b="b" t="t" l="l"/>
            <a:pathLst>
              <a:path h="3462116" w="5895244">
                <a:moveTo>
                  <a:pt x="5895244" y="3462116"/>
                </a:moveTo>
                <a:lnTo>
                  <a:pt x="0" y="3462116"/>
                </a:lnTo>
                <a:lnTo>
                  <a:pt x="0" y="0"/>
                </a:lnTo>
                <a:lnTo>
                  <a:pt x="5895244" y="0"/>
                </a:lnTo>
                <a:lnTo>
                  <a:pt x="5895244" y="34621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469153" y="2881899"/>
            <a:ext cx="15349694" cy="5514975"/>
          </a:xfrm>
          <a:prstGeom prst="rect">
            <a:avLst/>
          </a:prstGeom>
        </p:spPr>
        <p:txBody>
          <a:bodyPr anchor="t" rtlCol="false" tIns="0" lIns="0" bIns="0" rIns="0">
            <a:spAutoFit/>
          </a:bodyPr>
          <a:lstStyle/>
          <a:p>
            <a:pPr algn="just">
              <a:lnSpc>
                <a:spcPts val="3600"/>
              </a:lnSpc>
            </a:pPr>
            <a:r>
              <a:rPr lang="en-US" sz="3000">
                <a:solidFill>
                  <a:srgbClr val="000000"/>
                </a:solidFill>
                <a:latin typeface="Poppins"/>
                <a:ea typeface="Poppins"/>
                <a:cs typeface="Poppins"/>
                <a:sym typeface="Poppins"/>
              </a:rPr>
              <a:t>6.Sistem telah melalui proses pengujian menyeluruh dan semua bug kritis berhasil diperbaiki, menandakan sistem siap diimplementasikan.</a:t>
            </a:r>
          </a:p>
          <a:p>
            <a:pPr algn="just">
              <a:lnSpc>
                <a:spcPts val="3600"/>
              </a:lnSpc>
            </a:pPr>
          </a:p>
          <a:p>
            <a:pPr algn="just">
              <a:lnSpc>
                <a:spcPts val="3600"/>
              </a:lnSpc>
            </a:pPr>
            <a:r>
              <a:rPr lang="en-US" sz="3000">
                <a:solidFill>
                  <a:srgbClr val="000000"/>
                </a:solidFill>
                <a:latin typeface="Poppins"/>
                <a:ea typeface="Poppins"/>
                <a:cs typeface="Poppins"/>
                <a:sym typeface="Poppins"/>
              </a:rPr>
              <a:t>7.Sistem berhasil diimplementasikan dan berfungsi secara optimal di lingkungan operasional, disertai pengujian bersama pengguna.</a:t>
            </a:r>
          </a:p>
          <a:p>
            <a:pPr algn="just">
              <a:lnSpc>
                <a:spcPts val="3600"/>
              </a:lnSpc>
            </a:pPr>
          </a:p>
          <a:p>
            <a:pPr algn="just">
              <a:lnSpc>
                <a:spcPts val="3600"/>
              </a:lnSpc>
            </a:pPr>
            <a:r>
              <a:rPr lang="en-US" sz="3000">
                <a:solidFill>
                  <a:srgbClr val="000000"/>
                </a:solidFill>
                <a:latin typeface="Poppins"/>
                <a:ea typeface="Poppins"/>
                <a:cs typeface="Poppins"/>
                <a:sym typeface="Poppins"/>
              </a:rPr>
              <a:t>8.Pelatihan untuk pengguna dan penyerahan dokumentasi lengkap dan panduan penggunaan sistem kepada client sebagai bukti penyelesaian proyek.</a:t>
            </a:r>
          </a:p>
          <a:p>
            <a:pPr algn="just">
              <a:lnSpc>
                <a:spcPts val="3600"/>
              </a:lnSpc>
            </a:pPr>
          </a:p>
          <a:p>
            <a:pPr algn="just">
              <a:lnSpc>
                <a:spcPts val="3600"/>
              </a:lnSpc>
            </a:pPr>
            <a:r>
              <a:rPr lang="en-US" sz="3000">
                <a:solidFill>
                  <a:srgbClr val="000000"/>
                </a:solidFill>
                <a:latin typeface="Poppins"/>
                <a:ea typeface="Poppins"/>
                <a:cs typeface="Poppins"/>
                <a:sym typeface="Poppins"/>
              </a:rPr>
              <a:t>9.Sistem beroperasi secara stabil pasca implementasi dengan dukungan pemeliharaan berkelanjutan.</a:t>
            </a:r>
          </a:p>
          <a:p>
            <a:pPr algn="just">
              <a:lnSpc>
                <a:spcPts val="3600"/>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5400000">
            <a:off x="-927232" y="-935497"/>
            <a:ext cx="1480949" cy="3351943"/>
          </a:xfrm>
          <a:custGeom>
            <a:avLst/>
            <a:gdLst/>
            <a:ahLst/>
            <a:cxnLst/>
            <a:rect r="r" b="b" t="t" l="l"/>
            <a:pathLst>
              <a:path h="3351943" w="1480949">
                <a:moveTo>
                  <a:pt x="1480949" y="0"/>
                </a:moveTo>
                <a:lnTo>
                  <a:pt x="0" y="0"/>
                </a:lnTo>
                <a:lnTo>
                  <a:pt x="0" y="3351943"/>
                </a:lnTo>
                <a:lnTo>
                  <a:pt x="1480949" y="3351943"/>
                </a:lnTo>
                <a:lnTo>
                  <a:pt x="1480949"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true" flipV="true" rot="5400000">
            <a:off x="17734283" y="-935497"/>
            <a:ext cx="1480949" cy="3351943"/>
          </a:xfrm>
          <a:custGeom>
            <a:avLst/>
            <a:gdLst/>
            <a:ahLst/>
            <a:cxnLst/>
            <a:rect r="r" b="b" t="t" l="l"/>
            <a:pathLst>
              <a:path h="3351943" w="1480949">
                <a:moveTo>
                  <a:pt x="1480949" y="3351943"/>
                </a:moveTo>
                <a:lnTo>
                  <a:pt x="0" y="3351943"/>
                </a:lnTo>
                <a:lnTo>
                  <a:pt x="0" y="0"/>
                </a:lnTo>
                <a:lnTo>
                  <a:pt x="1480949" y="0"/>
                </a:lnTo>
                <a:lnTo>
                  <a:pt x="1480949" y="3351943"/>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1320411" y="1595906"/>
            <a:ext cx="15647178" cy="8097415"/>
          </a:xfrm>
          <a:custGeom>
            <a:avLst/>
            <a:gdLst/>
            <a:ahLst/>
            <a:cxnLst/>
            <a:rect r="r" b="b" t="t" l="l"/>
            <a:pathLst>
              <a:path h="8097415" w="15647178">
                <a:moveTo>
                  <a:pt x="0" y="0"/>
                </a:moveTo>
                <a:lnTo>
                  <a:pt x="15647178" y="0"/>
                </a:lnTo>
                <a:lnTo>
                  <a:pt x="15647178" y="8097415"/>
                </a:lnTo>
                <a:lnTo>
                  <a:pt x="0" y="8097415"/>
                </a:lnTo>
                <a:lnTo>
                  <a:pt x="0" y="0"/>
                </a:lnTo>
                <a:close/>
              </a:path>
            </a:pathLst>
          </a:custGeom>
          <a:blipFill>
            <a:blip r:embed="rId4"/>
            <a:stretch>
              <a:fillRect l="0" t="0" r="0" b="0"/>
            </a:stretch>
          </a:blipFill>
        </p:spPr>
      </p:sp>
      <p:sp>
        <p:nvSpPr>
          <p:cNvPr name="TextBox 5" id="5"/>
          <p:cNvSpPr txBox="true"/>
          <p:nvPr/>
        </p:nvSpPr>
        <p:spPr>
          <a:xfrm rot="0">
            <a:off x="1958164" y="676275"/>
            <a:ext cx="14371672" cy="695325"/>
          </a:xfrm>
          <a:prstGeom prst="rect">
            <a:avLst/>
          </a:prstGeom>
        </p:spPr>
        <p:txBody>
          <a:bodyPr anchor="t" rtlCol="false" tIns="0" lIns="0" bIns="0" rIns="0">
            <a:spAutoFit/>
          </a:bodyPr>
          <a:lstStyle/>
          <a:p>
            <a:pPr algn="ctr">
              <a:lnSpc>
                <a:spcPts val="5400"/>
              </a:lnSpc>
            </a:pPr>
            <a:r>
              <a:rPr lang="en-US" b="true" sz="4500">
                <a:solidFill>
                  <a:srgbClr val="5C94C1"/>
                </a:solidFill>
                <a:latin typeface="Shantell Sans Bold"/>
                <a:ea typeface="Shantell Sans Bold"/>
                <a:cs typeface="Shantell Sans Bold"/>
                <a:sym typeface="Shantell Sans Bold"/>
              </a:rPr>
              <a:t>PROGRAM EVALUATION REVIEW AND TECHNIC</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834" y="4910028"/>
            <a:ext cx="9155834" cy="5376972"/>
          </a:xfrm>
          <a:custGeom>
            <a:avLst/>
            <a:gdLst/>
            <a:ahLst/>
            <a:cxnLst/>
            <a:rect r="r" b="b" t="t" l="l"/>
            <a:pathLst>
              <a:path h="5376972" w="9155834">
                <a:moveTo>
                  <a:pt x="0" y="0"/>
                </a:moveTo>
                <a:lnTo>
                  <a:pt x="9155834" y="0"/>
                </a:lnTo>
                <a:lnTo>
                  <a:pt x="9155834" y="5376972"/>
                </a:lnTo>
                <a:lnTo>
                  <a:pt x="0" y="53769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1834" y="0"/>
            <a:ext cx="9155834" cy="5376972"/>
          </a:xfrm>
          <a:custGeom>
            <a:avLst/>
            <a:gdLst/>
            <a:ahLst/>
            <a:cxnLst/>
            <a:rect r="r" b="b" t="t" l="l"/>
            <a:pathLst>
              <a:path h="5376972" w="9155834">
                <a:moveTo>
                  <a:pt x="0" y="5376972"/>
                </a:moveTo>
                <a:lnTo>
                  <a:pt x="9155834" y="5376972"/>
                </a:lnTo>
                <a:lnTo>
                  <a:pt x="9155834" y="0"/>
                </a:lnTo>
                <a:lnTo>
                  <a:pt x="0" y="0"/>
                </a:lnTo>
                <a:lnTo>
                  <a:pt x="0" y="537697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9144000" y="9993"/>
            <a:ext cx="9155834" cy="5376972"/>
          </a:xfrm>
          <a:custGeom>
            <a:avLst/>
            <a:gdLst/>
            <a:ahLst/>
            <a:cxnLst/>
            <a:rect r="r" b="b" t="t" l="l"/>
            <a:pathLst>
              <a:path h="5376972" w="9155834">
                <a:moveTo>
                  <a:pt x="9155834" y="5376972"/>
                </a:moveTo>
                <a:lnTo>
                  <a:pt x="0" y="5376972"/>
                </a:lnTo>
                <a:lnTo>
                  <a:pt x="0" y="0"/>
                </a:lnTo>
                <a:lnTo>
                  <a:pt x="9155834" y="0"/>
                </a:lnTo>
                <a:lnTo>
                  <a:pt x="9155834" y="537697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9144000" y="4910028"/>
            <a:ext cx="9155834" cy="5376972"/>
          </a:xfrm>
          <a:custGeom>
            <a:avLst/>
            <a:gdLst/>
            <a:ahLst/>
            <a:cxnLst/>
            <a:rect r="r" b="b" t="t" l="l"/>
            <a:pathLst>
              <a:path h="5376972" w="9155834">
                <a:moveTo>
                  <a:pt x="9155834" y="0"/>
                </a:moveTo>
                <a:lnTo>
                  <a:pt x="0" y="0"/>
                </a:lnTo>
                <a:lnTo>
                  <a:pt x="0" y="5376972"/>
                </a:lnTo>
                <a:lnTo>
                  <a:pt x="9155834" y="5376972"/>
                </a:lnTo>
                <a:lnTo>
                  <a:pt x="915583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608891" y="4164807"/>
            <a:ext cx="15070217" cy="1998870"/>
          </a:xfrm>
          <a:prstGeom prst="rect">
            <a:avLst/>
          </a:prstGeom>
        </p:spPr>
        <p:txBody>
          <a:bodyPr anchor="t" rtlCol="false" tIns="0" lIns="0" bIns="0" rIns="0">
            <a:spAutoFit/>
          </a:bodyPr>
          <a:lstStyle/>
          <a:p>
            <a:pPr algn="ctr">
              <a:lnSpc>
                <a:spcPts val="15718"/>
              </a:lnSpc>
            </a:pPr>
            <a:r>
              <a:rPr lang="en-US" b="true" sz="13098">
                <a:solidFill>
                  <a:srgbClr val="5C94C1"/>
                </a:solidFill>
                <a:latin typeface="Shantell Sans Bold"/>
                <a:ea typeface="Shantell Sans Bold"/>
                <a:cs typeface="Shantell Sans Bold"/>
                <a:sym typeface="Shantell Sans Bold"/>
              </a:rPr>
              <a:t>TERIMA </a:t>
            </a:r>
            <a:r>
              <a:rPr lang="en-US" b="true" sz="13098">
                <a:solidFill>
                  <a:srgbClr val="FFD9D0"/>
                </a:solidFill>
                <a:latin typeface="Shantell Sans Bold"/>
                <a:ea typeface="Shantell Sans Bold"/>
                <a:cs typeface="Shantell Sans Bold"/>
                <a:sym typeface="Shantell Sans Bold"/>
              </a:rPr>
              <a:t>KASIH</a:t>
            </a:r>
          </a:p>
        </p:txBody>
      </p:sp>
      <p:sp>
        <p:nvSpPr>
          <p:cNvPr name="Freeform 7" id="7"/>
          <p:cNvSpPr/>
          <p:nvPr/>
        </p:nvSpPr>
        <p:spPr>
          <a:xfrm flipH="true" flipV="true" rot="5400000">
            <a:off x="17584819" y="2931845"/>
            <a:ext cx="1817993" cy="4114800"/>
          </a:xfrm>
          <a:custGeom>
            <a:avLst/>
            <a:gdLst/>
            <a:ahLst/>
            <a:cxnLst/>
            <a:rect r="r" b="b" t="t" l="l"/>
            <a:pathLst>
              <a:path h="4114800" w="1817993">
                <a:moveTo>
                  <a:pt x="1817994" y="4114800"/>
                </a:moveTo>
                <a:lnTo>
                  <a:pt x="0" y="4114800"/>
                </a:lnTo>
                <a:lnTo>
                  <a:pt x="0" y="0"/>
                </a:lnTo>
                <a:lnTo>
                  <a:pt x="1817994" y="0"/>
                </a:lnTo>
                <a:lnTo>
                  <a:pt x="1817994" y="411480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true" flipV="false" rot="5400000">
            <a:off x="-1048138" y="2931845"/>
            <a:ext cx="1817993" cy="4114800"/>
          </a:xfrm>
          <a:custGeom>
            <a:avLst/>
            <a:gdLst/>
            <a:ahLst/>
            <a:cxnLst/>
            <a:rect r="r" b="b" t="t" l="l"/>
            <a:pathLst>
              <a:path h="4114800" w="1817993">
                <a:moveTo>
                  <a:pt x="1817994" y="0"/>
                </a:moveTo>
                <a:lnTo>
                  <a:pt x="0" y="0"/>
                </a:lnTo>
                <a:lnTo>
                  <a:pt x="0" y="4114800"/>
                </a:lnTo>
                <a:lnTo>
                  <a:pt x="1817994" y="4114800"/>
                </a:lnTo>
                <a:lnTo>
                  <a:pt x="1817994"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9" id="9"/>
          <p:cNvSpPr/>
          <p:nvPr/>
        </p:nvSpPr>
        <p:spPr>
          <a:xfrm flipH="false" flipV="true" rot="0">
            <a:off x="7550438" y="8196637"/>
            <a:ext cx="3187125" cy="2807281"/>
          </a:xfrm>
          <a:custGeom>
            <a:avLst/>
            <a:gdLst/>
            <a:ahLst/>
            <a:cxnLst/>
            <a:rect r="r" b="b" t="t" l="l"/>
            <a:pathLst>
              <a:path h="2807281" w="3187125">
                <a:moveTo>
                  <a:pt x="0" y="2807282"/>
                </a:moveTo>
                <a:lnTo>
                  <a:pt x="3187124" y="2807282"/>
                </a:lnTo>
                <a:lnTo>
                  <a:pt x="3187124" y="0"/>
                </a:lnTo>
                <a:lnTo>
                  <a:pt x="0" y="0"/>
                </a:lnTo>
                <a:lnTo>
                  <a:pt x="0" y="2807282"/>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0" id="10"/>
          <p:cNvSpPr/>
          <p:nvPr/>
        </p:nvSpPr>
        <p:spPr>
          <a:xfrm flipH="false" flipV="false" rot="0">
            <a:off x="7550438" y="-773319"/>
            <a:ext cx="3187125" cy="2807281"/>
          </a:xfrm>
          <a:custGeom>
            <a:avLst/>
            <a:gdLst/>
            <a:ahLst/>
            <a:cxnLst/>
            <a:rect r="r" b="b" t="t" l="l"/>
            <a:pathLst>
              <a:path h="2807281" w="3187125">
                <a:moveTo>
                  <a:pt x="0" y="0"/>
                </a:moveTo>
                <a:lnTo>
                  <a:pt x="3187124" y="0"/>
                </a:lnTo>
                <a:lnTo>
                  <a:pt x="3187124" y="2807281"/>
                </a:lnTo>
                <a:lnTo>
                  <a:pt x="0" y="28072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5400000">
            <a:off x="8187475" y="3606963"/>
            <a:ext cx="382317" cy="560477"/>
          </a:xfrm>
          <a:custGeom>
            <a:avLst/>
            <a:gdLst/>
            <a:ahLst/>
            <a:cxnLst/>
            <a:rect r="r" b="b" t="t" l="l"/>
            <a:pathLst>
              <a:path h="560477" w="382317">
                <a:moveTo>
                  <a:pt x="0" y="0"/>
                </a:moveTo>
                <a:lnTo>
                  <a:pt x="382317" y="0"/>
                </a:lnTo>
                <a:lnTo>
                  <a:pt x="382317" y="560478"/>
                </a:lnTo>
                <a:lnTo>
                  <a:pt x="0" y="5604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5400000">
            <a:off x="8187475" y="6119559"/>
            <a:ext cx="382317" cy="560477"/>
          </a:xfrm>
          <a:custGeom>
            <a:avLst/>
            <a:gdLst/>
            <a:ahLst/>
            <a:cxnLst/>
            <a:rect r="r" b="b" t="t" l="l"/>
            <a:pathLst>
              <a:path h="560477" w="382317">
                <a:moveTo>
                  <a:pt x="0" y="0"/>
                </a:moveTo>
                <a:lnTo>
                  <a:pt x="382317" y="0"/>
                </a:lnTo>
                <a:lnTo>
                  <a:pt x="382317" y="560478"/>
                </a:lnTo>
                <a:lnTo>
                  <a:pt x="0" y="5604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5400000">
            <a:off x="8953538" y="3606963"/>
            <a:ext cx="382317" cy="560477"/>
          </a:xfrm>
          <a:custGeom>
            <a:avLst/>
            <a:gdLst/>
            <a:ahLst/>
            <a:cxnLst/>
            <a:rect r="r" b="b" t="t" l="l"/>
            <a:pathLst>
              <a:path h="560477" w="382317">
                <a:moveTo>
                  <a:pt x="0" y="0"/>
                </a:moveTo>
                <a:lnTo>
                  <a:pt x="382317" y="0"/>
                </a:lnTo>
                <a:lnTo>
                  <a:pt x="382317" y="560478"/>
                </a:lnTo>
                <a:lnTo>
                  <a:pt x="0" y="56047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5400000">
            <a:off x="8953538" y="6119559"/>
            <a:ext cx="382317" cy="560477"/>
          </a:xfrm>
          <a:custGeom>
            <a:avLst/>
            <a:gdLst/>
            <a:ahLst/>
            <a:cxnLst/>
            <a:rect r="r" b="b" t="t" l="l"/>
            <a:pathLst>
              <a:path h="560477" w="382317">
                <a:moveTo>
                  <a:pt x="0" y="0"/>
                </a:moveTo>
                <a:lnTo>
                  <a:pt x="382317" y="0"/>
                </a:lnTo>
                <a:lnTo>
                  <a:pt x="382317" y="560478"/>
                </a:lnTo>
                <a:lnTo>
                  <a:pt x="0" y="56047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5400000">
            <a:off x="9718208" y="3606963"/>
            <a:ext cx="382317" cy="560477"/>
          </a:xfrm>
          <a:custGeom>
            <a:avLst/>
            <a:gdLst/>
            <a:ahLst/>
            <a:cxnLst/>
            <a:rect r="r" b="b" t="t" l="l"/>
            <a:pathLst>
              <a:path h="560477" w="382317">
                <a:moveTo>
                  <a:pt x="0" y="0"/>
                </a:moveTo>
                <a:lnTo>
                  <a:pt x="382317" y="0"/>
                </a:lnTo>
                <a:lnTo>
                  <a:pt x="382317" y="560478"/>
                </a:lnTo>
                <a:lnTo>
                  <a:pt x="0" y="5604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5400000">
            <a:off x="9718208" y="6119559"/>
            <a:ext cx="382317" cy="560477"/>
          </a:xfrm>
          <a:custGeom>
            <a:avLst/>
            <a:gdLst/>
            <a:ahLst/>
            <a:cxnLst/>
            <a:rect r="r" b="b" t="t" l="l"/>
            <a:pathLst>
              <a:path h="560477" w="382317">
                <a:moveTo>
                  <a:pt x="0" y="0"/>
                </a:moveTo>
                <a:lnTo>
                  <a:pt x="382317" y="0"/>
                </a:lnTo>
                <a:lnTo>
                  <a:pt x="382317" y="560478"/>
                </a:lnTo>
                <a:lnTo>
                  <a:pt x="0" y="5604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DAG2PfD-N0Y</dc:identifier>
  <dcterms:modified xsi:type="dcterms:W3CDTF">2011-08-01T06:04:30Z</dcterms:modified>
  <cp:revision>1</cp:revision>
  <dc:title>Kelompok 5 - WBS dan Gantt Chart</dc:title>
</cp:coreProperties>
</file>